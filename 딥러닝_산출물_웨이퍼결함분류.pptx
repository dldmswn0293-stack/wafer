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16384A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74320"/>
            <a:ext cx="1645920" cy="164592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인공지능개발 양성과정  ·  딥러닝 산출물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기반 반도체 웨이퍼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결함 패턴 분류 모델 개발 및 시각화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2011680" cy="0"/>
          </a:xfrm>
          <a:prstGeom prst="line">
            <a:avLst/>
          </a:prstGeom>
          <a:noFill/>
          <a:ln w="31750">
            <a:solidFill>
              <a:srgbClr val="0FB5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43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기법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(Convolutional Neural Network)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WM-811K Wafer Map Dataset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 : 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개요 및 현황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배경과 현 상황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606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과제 범위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26060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데이터·전처리·모델·배포 범위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20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과제 추진 방법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35204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/ EDA / CNN 설계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434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434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주요 결과물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4434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 / Streamlit 데모 / 활용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349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5349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후기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5349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점과 발전 방향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개요 및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사업과제 · 추진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사업과제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기반 반도체 웨이퍼 결함 패턴 분류 모델 개발 및 시각화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수율 직결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웨이퍼맵의 불량 die 공간 패턴(Center·Donut·Edge-Ring·Scratch 등)은 특정 공정 이상과 직결되어 수율·품질의 핵심 단서가 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판독의 한계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160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기존엔 엔지니어가 웨이퍼맵을 육안 판독 → 시간 소요·주관 개입·대량 처리 한계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전환 필요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303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기반 자동 분류로 패턴을 즉시 식별 → 근본원인 조기 대응 (Smart Manufacturing)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개요 및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현재 상황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811K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WM-811K 실제 팹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웨이퍼맵 규모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8745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8+1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43400" y="2788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패턴 클래스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(8종 + 정상)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8745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955280" y="2788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분류 표준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기법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산업 동향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설명가능 AI(XAI)·자동 결함분류(ADC)가 반도체 품질관리의 표준으로 자리잡는 추세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웨이퍼맵 패턴 분류는 FDC·MES 등 현장 시스템과 연계해 실시간 이상탐지로 확장 가능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Twin·Smart Manufacturing 구현의 대표적 AI/ML 적용 사례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과제 범위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과제 구분 및 내용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과제 구분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원시 데이터 수집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WM-811K Wafer Map Dataset 확보 및 라벨링 데이터 추출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전처리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가변 크기 웨이퍼맵 → 64×64 통일, 정규화, 클래스 불균형 완화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클래스 분포 분석, 패턴별 샘플 웨이퍼맵 시각화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선정 &amp; 학습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CNN(Conv2D×3 + Dense) 설계 및 학습 (EarlyStopping)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평가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정확도·손실 곡선, 혼동행렬, 분류 리포트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시각화 &amp; 배포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앱 — 웨이퍼맵 업로드 시 패턴+추정 공정원인 진단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과제 추진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전체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데이터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수집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304288" y="2971800"/>
            <a:ext cx="256032" cy="0"/>
          </a:xfrm>
          <a:prstGeom prst="line">
            <a:avLst/>
          </a:prstGeom>
          <a:noFill/>
          <a:ln w="2540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8608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전처리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(64×64)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51376" y="2971800"/>
            <a:ext cx="256032" cy="0"/>
          </a:xfrm>
          <a:prstGeom prst="line">
            <a:avLst/>
          </a:prstGeom>
          <a:noFill/>
          <a:ln w="2540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25696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25696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98464" y="2971800"/>
            <a:ext cx="256032" cy="0"/>
          </a:xfrm>
          <a:prstGeom prst="line">
            <a:avLst/>
          </a:prstGeom>
          <a:noFill/>
          <a:ln w="2540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2784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FB5A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학습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845552" y="2971800"/>
            <a:ext cx="256032" cy="0"/>
          </a:xfrm>
          <a:prstGeom prst="line">
            <a:avLst/>
          </a:prstGeom>
          <a:noFill/>
          <a:ln w="2540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19872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성능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평가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92640" y="2971800"/>
            <a:ext cx="256032" cy="0"/>
          </a:xfrm>
          <a:prstGeom prst="line">
            <a:avLst/>
          </a:prstGeom>
          <a:noFill/>
          <a:ln w="2540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66960" y="23774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66960" y="23774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Streamlit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배포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핵심 설계 원칙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학원 '꽃 이미지 CNN 분류' 예제 구조를 그대로 활용 — 입력만 3채널 RGB → 1채널 웨이퍼맵으로 확장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산출물과 동일하게 모델(.h5)+라벨인코더(joblib) 저장 → Streamlit 연동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도구 내에서 구현(과적합 방지: 데이터 증강 + Dropout + EarlyStopping)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과제 추진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데이터셋 &amp; 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데이터 구성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웨이퍼맵 값 규칙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웨이퍼 밖 / 1 = 정상 die / 2 = 불량 die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패턴 8종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Center, Donut, Edge-Loc, Edge-Ring,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Near-full, Random, Scratch (+ none)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가변 크기 → 64×64 (최근접 보간으로 0/1/2 값 보존), 클래스별 표본 수 균형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743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EDA 결과 이미지 삽입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32004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노트북의 클래스 분포 막대그래프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샘플 웨이퍼맵 캡처를 넣으세요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과제 추진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 모델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12264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13432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8" name="Text 6"/>
          <p:cNvSpPr/>
          <p:nvPr/>
        </p:nvSpPr>
        <p:spPr>
          <a:xfrm>
            <a:off x="2313432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16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94176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95344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11" name="Text 9"/>
          <p:cNvSpPr/>
          <p:nvPr/>
        </p:nvSpPr>
        <p:spPr>
          <a:xfrm>
            <a:off x="3895344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77256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77256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59168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+Flatten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39912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21824" y="2743200"/>
            <a:ext cx="201168" cy="0"/>
          </a:xfrm>
          <a:prstGeom prst="line">
            <a:avLst/>
          </a:prstGeom>
          <a:noFill/>
          <a:ln w="19050">
            <a:solidFill>
              <a:srgbClr val="6479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22992" y="210312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0FB5AE"/>
          </a:solidFill>
          <a:ln/>
        </p:spPr>
      </p:sp>
      <p:sp>
        <p:nvSpPr>
          <p:cNvPr id="23" name="Text 21"/>
          <p:cNvSpPr/>
          <p:nvPr/>
        </p:nvSpPr>
        <p:spPr>
          <a:xfrm>
            <a:off x="10222992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classes)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SparseCategoricalCrossentropy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옵티마이저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방지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RandomFlip/Rotation · Dropout 0.2 · EarlyStopping(patience=3)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평가지표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Confusion Matrix · F1-score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주요 결과물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모델 성능 평가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정확도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__._%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(실제 WM-811K 학습 결과 기입)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737360"/>
            <a:ext cx="73152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혼동행렬 + 정확도/손실 곡선 이미지 삽입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9-1, 9-2 출력 캡처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리포트(precision/recall/F1)로 패턴별 성능 확인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혼동행렬로 혼동이 잦은 패턴 쌍 분석 → 개선 방향 도출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주요 결과물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Streamlit 데모 — 결함 진단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6692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Streamlit 화면 캡처 삽입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웨이퍼맵 업로드 → 예측 패턴·확률 표시 화면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핵심 기능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0" y="233172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609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웨이퍼맵 입력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60920" y="26334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또는 샘플 패턴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320040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패턴 예측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60920" y="35021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추론 → 결함 패턴 + 확률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406908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공정원인 해석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6092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패턴별 추정 공정 원인·점검 포인트 자동 매핑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93776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4892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클래스 정보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60920" y="5239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패턴-원인 매핑 테이블 제공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주요 결과물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제조 현장 활용 방안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수율 근본원인 조기 식별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패턴↔공정 이상 매핑(중심 온도 편차, 에지 척킹, 파티클 scratch 등)으로 원인 규명 시간 단축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75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엔지니어 판독 자동화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육안 검사 → AI 자동 분류, 반복 업무 제거 (Work With AI)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02336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041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현장 시스템 연계 확장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5840" y="4617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FDC·MES 연동, 실시간 이상탐지·알람으로 확장 가능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041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Twin 기반 검증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617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환경에서 공정 변경 영향 사전 검증 (Smart Manufacturing)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1B2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후기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배운 점과 발전 방향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분류 CNN 구조를 반도체 도메인(웨이퍼맵)에 직접 적용하며, 같은 딥러닝 기법이 산업 문제로 전이되는 과정을 경험</a:t>
            </a:r>
            <a:endParaRPr lang="en-US" sz="16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머신러닝(설비 예측정비) → 딥러닝(웨이퍼 품질검사)로 이어지는 '반도체 제조 라이프사이클 AI 적용' 포트폴리오를 구성</a:t>
            </a:r>
            <a:endParaRPr lang="en-US" sz="16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분류를 넘어 패턴↔공정원인 매핑으로 현장 해석을 더해, AI 결과를 실제 의사결정으로 연결하는 관점을 학습</a:t>
            </a:r>
            <a:endParaRPr lang="en-US" sz="16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FDC/MES 연계 실시간 이상탐지, XAI(Grad-CAM) 기반 근거 시각화로 발전시킬 계획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B5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감사합니다.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딥러닝 산출물 - 웨이퍼 결함 패턴 분류</dc:title>
  <dc:subject>PptxGenJS Presentation</dc:subject>
  <dc:creator>EJ</dc:creator>
  <cp:lastModifiedBy>EJ</cp:lastModifiedBy>
  <cp:revision>1</cp:revision>
  <dcterms:created xsi:type="dcterms:W3CDTF">2026-06-29T10:15:18Z</dcterms:created>
  <dcterms:modified xsi:type="dcterms:W3CDTF">2026-06-29T10:15:18Z</dcterms:modified>
</cp:coreProperties>
</file>