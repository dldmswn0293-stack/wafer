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7">
          <p15:clr>
            <a:srgbClr val="000000"/>
          </p15:clr>
        </p15:guide>
        <p15:guide id="2" pos="3839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iRDYgQgtnpJdnMfUruMt9bbain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7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2cf0180b9_1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f2cf0180b9_1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f2cf0180b9_1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2cf0180b9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f2cf0180b9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3f2cf0180b9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0" Type="http://schemas.openxmlformats.org/officeDocument/2006/relationships/image" Target="../media/image19.png"/><Relationship Id="rId9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7.png"/><Relationship Id="rId7" Type="http://schemas.openxmlformats.org/officeDocument/2006/relationships/image" Target="../media/image21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10058400" y="0"/>
            <a:ext cx="0" cy="64008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10058400" y="640080"/>
            <a:ext cx="128016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11301984" y="566928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0" y="6400800"/>
            <a:ext cx="100584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932688" y="5989320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hero.png" id="25" name="Google Shape;2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0" y="1371600"/>
            <a:ext cx="420624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/>
          <p:nvPr/>
        </p:nvSpPr>
        <p:spPr>
          <a:xfrm>
            <a:off x="7315200" y="1645920"/>
            <a:ext cx="3657600" cy="3657600"/>
          </a:xfrm>
          <a:prstGeom prst="ellipse">
            <a:avLst/>
          </a:prstGeom>
          <a:solidFill>
            <a:srgbClr val="27D3EE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77240" y="13716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SEMICONDUCTOR AI 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822960" y="1874520"/>
            <a:ext cx="1463040" cy="0"/>
          </a:xfrm>
          <a:prstGeom prst="straightConnector1">
            <a:avLst/>
          </a:prstGeom>
          <a:noFill/>
          <a:ln cap="flat" cmpd="sng" w="3175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749808" y="2057400"/>
            <a:ext cx="65836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3800"/>
              <a:buFont typeface="Malgun Gothic"/>
              <a:buNone/>
            </a:pPr>
            <a:r>
              <a:rPr b="1" i="0" lang="en-US" sz="38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기반 반도체 웨이퍼</a:t>
            </a:r>
            <a:endParaRPr b="1" i="0" sz="3800" u="none" cap="none" strike="noStrike">
              <a:solidFill>
                <a:srgbClr val="F5FA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3800"/>
              <a:buFont typeface="Malgun Gothic"/>
              <a:buNone/>
            </a:pPr>
            <a:r>
              <a:rPr b="1" i="0" lang="en-US" sz="38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 패턴 분류 모델</a:t>
            </a:r>
            <a:endParaRPr b="1" i="0" sz="3800" u="none" cap="none" strike="noStrike">
              <a:solidFill>
                <a:srgbClr val="F5FA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3800"/>
              <a:buFont typeface="Malgun Gothic"/>
              <a:buNone/>
            </a:pPr>
            <a:r>
              <a:rPr b="1" i="0" lang="en-US" sz="38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및 시각화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77240" y="4297680"/>
            <a:ext cx="6217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반도체 양산 공정 효율화를 위한 CNN 기반</a:t>
            </a:r>
            <a:endParaRPr b="0" i="0" sz="1500" u="none" cap="none" strike="noStrike">
              <a:solidFill>
                <a:srgbClr val="9FB6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웨이퍼맵 결함 패턴 자동 분류 프로젝트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822960" y="5257800"/>
            <a:ext cx="1463040" cy="0"/>
          </a:xfrm>
          <a:prstGeom prst="straightConnector1">
            <a:avLst/>
          </a:prstGeom>
          <a:noFill/>
          <a:ln cap="flat" cmpd="sng" w="19050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777240" y="544068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FE4F5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6FE4F5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이은주</a:t>
            </a:r>
            <a:endParaRPr b="1" i="0" sz="1350" u="none" cap="none" strike="noStrike">
              <a:solidFill>
                <a:srgbClr val="6FE4F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1350"/>
              <a:buFont typeface="Malgun Gothic"/>
              <a:buNone/>
            </a:pPr>
            <a:r>
              <a:rPr b="0" i="0" lang="en-US" sz="135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2026.07.01</a:t>
            </a:r>
            <a:endParaRPr b="0" i="0" sz="1350" u="none" cap="none" strike="noStrike">
              <a:solidFill>
                <a:srgbClr val="6E869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2"/>
          <p:cNvCxnSpPr/>
          <p:nvPr/>
        </p:nvCxnSpPr>
        <p:spPr>
          <a:xfrm>
            <a:off x="10058400" y="0"/>
            <a:ext cx="0" cy="64008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2"/>
          <p:cNvCxnSpPr/>
          <p:nvPr/>
        </p:nvCxnSpPr>
        <p:spPr>
          <a:xfrm>
            <a:off x="10058400" y="640080"/>
            <a:ext cx="128016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2"/>
          <p:cNvSpPr/>
          <p:nvPr/>
        </p:nvSpPr>
        <p:spPr>
          <a:xfrm>
            <a:off x="11301984" y="566928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2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p2"/>
          <p:cNvCxnSpPr/>
          <p:nvPr/>
        </p:nvCxnSpPr>
        <p:spPr>
          <a:xfrm>
            <a:off x="0" y="6400800"/>
            <a:ext cx="100584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" name="Google Shape;45;p2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2"/>
          <p:cNvSpPr/>
          <p:nvPr/>
        </p:nvSpPr>
        <p:spPr>
          <a:xfrm>
            <a:off x="932688" y="5989320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48640" y="502920"/>
            <a:ext cx="109728" cy="713232"/>
          </a:xfrm>
          <a:prstGeom prst="roundRect">
            <a:avLst>
              <a:gd fmla="val 41667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58952" y="731520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2900"/>
              <a:buFont typeface="Malgun Gothic"/>
              <a:buNone/>
            </a:pPr>
            <a:r>
              <a:rPr b="1" i="0" lang="en-US" sz="29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목차 — 모델링 파이프라인 순서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40080" y="1600200"/>
            <a:ext cx="5440680" cy="987552"/>
          </a:xfrm>
          <a:prstGeom prst="roundRect">
            <a:avLst>
              <a:gd fmla="val 8333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22960" y="1600200"/>
            <a:ext cx="82296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2"/>
          <p:cNvCxnSpPr/>
          <p:nvPr/>
        </p:nvCxnSpPr>
        <p:spPr>
          <a:xfrm>
            <a:off x="1691640" y="1801368"/>
            <a:ext cx="0" cy="585216"/>
          </a:xfrm>
          <a:prstGeom prst="straightConnector1">
            <a:avLst/>
          </a:prstGeom>
          <a:noFill/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2"/>
          <p:cNvSpPr/>
          <p:nvPr/>
        </p:nvSpPr>
        <p:spPr>
          <a:xfrm>
            <a:off x="1874520" y="1746504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550"/>
              <a:buFont typeface="Malgun Gothic"/>
              <a:buNone/>
            </a:pPr>
            <a:r>
              <a:rPr b="1" i="0" lang="en-US" sz="15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개요 · 문제 정의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874520" y="213055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Why Automated Classification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309360" y="1600200"/>
            <a:ext cx="5440680" cy="987552"/>
          </a:xfrm>
          <a:prstGeom prst="roundRect">
            <a:avLst>
              <a:gd fmla="val 8333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492240" y="1600200"/>
            <a:ext cx="82296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2"/>
          <p:cNvCxnSpPr/>
          <p:nvPr/>
        </p:nvCxnSpPr>
        <p:spPr>
          <a:xfrm>
            <a:off x="7360920" y="1801368"/>
            <a:ext cx="0" cy="585216"/>
          </a:xfrm>
          <a:prstGeom prst="straightConnector1">
            <a:avLst/>
          </a:prstGeom>
          <a:noFill/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2"/>
          <p:cNvSpPr/>
          <p:nvPr/>
        </p:nvSpPr>
        <p:spPr>
          <a:xfrm>
            <a:off x="7543800" y="1746504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550"/>
              <a:buFont typeface="Malgun Gothic"/>
              <a:buNone/>
            </a:pPr>
            <a:r>
              <a:rPr b="1" i="0" lang="en-US" sz="15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데이터셋 · 결함 패턴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543800" y="2130552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WM-811K Wafer 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40080" y="2770632"/>
            <a:ext cx="5440680" cy="987552"/>
          </a:xfrm>
          <a:prstGeom prst="roundRect">
            <a:avLst>
              <a:gd fmla="val 8333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822960" y="2770632"/>
            <a:ext cx="82296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2"/>
          <p:cNvCxnSpPr/>
          <p:nvPr/>
        </p:nvCxnSpPr>
        <p:spPr>
          <a:xfrm>
            <a:off x="1691640" y="2971800"/>
            <a:ext cx="0" cy="585216"/>
          </a:xfrm>
          <a:prstGeom prst="straightConnector1">
            <a:avLst/>
          </a:prstGeom>
          <a:noFill/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2"/>
          <p:cNvSpPr/>
          <p:nvPr/>
        </p:nvSpPr>
        <p:spPr>
          <a:xfrm>
            <a:off x="1874520" y="2916936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550"/>
              <a:buFont typeface="Malgun Gothic"/>
              <a:buNone/>
            </a:pPr>
            <a:r>
              <a:rPr b="1" i="0" lang="en-US" sz="15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전처리 · EDA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874520" y="3300984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Imbalance · Resize · Encoding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309360" y="2770632"/>
            <a:ext cx="5440680" cy="987552"/>
          </a:xfrm>
          <a:prstGeom prst="roundRect">
            <a:avLst>
              <a:gd fmla="val 8333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6492240" y="2770632"/>
            <a:ext cx="82296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2"/>
          <p:cNvCxnSpPr/>
          <p:nvPr/>
        </p:nvCxnSpPr>
        <p:spPr>
          <a:xfrm>
            <a:off x="7360920" y="2971800"/>
            <a:ext cx="0" cy="585216"/>
          </a:xfrm>
          <a:prstGeom prst="straightConnector1">
            <a:avLst/>
          </a:prstGeom>
          <a:noFill/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2"/>
          <p:cNvSpPr/>
          <p:nvPr/>
        </p:nvSpPr>
        <p:spPr>
          <a:xfrm>
            <a:off x="7543800" y="2916936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550"/>
              <a:buFont typeface="Malgun Gothic"/>
              <a:buNone/>
            </a:pPr>
            <a:r>
              <a:rPr b="1" i="0" lang="en-US" sz="15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CNN 모델 설계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543800" y="3300984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Conv2D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40080" y="3941064"/>
            <a:ext cx="5440680" cy="987552"/>
          </a:xfrm>
          <a:prstGeom prst="roundRect">
            <a:avLst>
              <a:gd fmla="val 8333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822960" y="3941064"/>
            <a:ext cx="82296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2"/>
          <p:cNvCxnSpPr/>
          <p:nvPr/>
        </p:nvCxnSpPr>
        <p:spPr>
          <a:xfrm>
            <a:off x="1691640" y="4142232"/>
            <a:ext cx="0" cy="585216"/>
          </a:xfrm>
          <a:prstGeom prst="straightConnector1">
            <a:avLst/>
          </a:prstGeom>
          <a:noFill/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2"/>
          <p:cNvSpPr/>
          <p:nvPr/>
        </p:nvSpPr>
        <p:spPr>
          <a:xfrm>
            <a:off x="1874520" y="4087368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550"/>
              <a:buFont typeface="Malgun Gothic"/>
              <a:buNone/>
            </a:pPr>
            <a:r>
              <a:rPr b="1" i="0" lang="en-US" sz="15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· 실험 관리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874520" y="4471416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Focal Loss · EarlyStopping · MLflow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309360" y="3941064"/>
            <a:ext cx="5440680" cy="987552"/>
          </a:xfrm>
          <a:prstGeom prst="roundRect">
            <a:avLst>
              <a:gd fmla="val 8333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492240" y="3941064"/>
            <a:ext cx="82296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2"/>
          <p:cNvCxnSpPr/>
          <p:nvPr/>
        </p:nvCxnSpPr>
        <p:spPr>
          <a:xfrm>
            <a:off x="7360920" y="4142232"/>
            <a:ext cx="0" cy="585216"/>
          </a:xfrm>
          <a:prstGeom prst="straightConnector1">
            <a:avLst/>
          </a:prstGeom>
          <a:noFill/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2"/>
          <p:cNvSpPr/>
          <p:nvPr/>
        </p:nvSpPr>
        <p:spPr>
          <a:xfrm>
            <a:off x="7543800" y="4087368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550"/>
              <a:buFont typeface="Malgun Gothic"/>
              <a:buNone/>
            </a:pPr>
            <a:r>
              <a:rPr b="1" i="0" lang="en-US" sz="15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 평가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7543800" y="4471416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Accuracy · Macro-F1 · Recall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40080" y="5111496"/>
            <a:ext cx="5440680" cy="987552"/>
          </a:xfrm>
          <a:prstGeom prst="roundRect">
            <a:avLst>
              <a:gd fmla="val 8333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822960" y="5111496"/>
            <a:ext cx="82296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2"/>
          <p:cNvCxnSpPr/>
          <p:nvPr/>
        </p:nvCxnSpPr>
        <p:spPr>
          <a:xfrm>
            <a:off x="1691640" y="5312664"/>
            <a:ext cx="0" cy="585216"/>
          </a:xfrm>
          <a:prstGeom prst="straightConnector1">
            <a:avLst/>
          </a:prstGeom>
          <a:noFill/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2"/>
          <p:cNvSpPr/>
          <p:nvPr/>
        </p:nvSpPr>
        <p:spPr>
          <a:xfrm>
            <a:off x="1874520" y="525780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550"/>
              <a:buFont typeface="Malgun Gothic"/>
              <a:buNone/>
            </a:pPr>
            <a:r>
              <a:rPr b="1" i="0" lang="en-US" sz="15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시각화 · 배포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1874520" y="564184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Streamlit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6309360" y="5111496"/>
            <a:ext cx="5440680" cy="987552"/>
          </a:xfrm>
          <a:prstGeom prst="roundRect">
            <a:avLst>
              <a:gd fmla="val 8333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6492240" y="5111496"/>
            <a:ext cx="82296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2"/>
          <p:cNvCxnSpPr/>
          <p:nvPr/>
        </p:nvCxnSpPr>
        <p:spPr>
          <a:xfrm>
            <a:off x="7360920" y="5312664"/>
            <a:ext cx="0" cy="585216"/>
          </a:xfrm>
          <a:prstGeom prst="straightConnector1">
            <a:avLst/>
          </a:prstGeom>
          <a:noFill/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2"/>
          <p:cNvSpPr/>
          <p:nvPr/>
        </p:nvSpPr>
        <p:spPr>
          <a:xfrm>
            <a:off x="7543800" y="525780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550"/>
              <a:buFont typeface="Malgun Gothic"/>
              <a:buNone/>
            </a:pPr>
            <a:r>
              <a:rPr b="1" i="0" lang="en-US" sz="15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 · 활용 방안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7543800" y="5641848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Smart Manufacturing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3"/>
          <p:cNvCxnSpPr/>
          <p:nvPr/>
        </p:nvCxnSpPr>
        <p:spPr>
          <a:xfrm>
            <a:off x="10058400" y="0"/>
            <a:ext cx="0" cy="64008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3"/>
          <p:cNvCxnSpPr/>
          <p:nvPr/>
        </p:nvCxnSpPr>
        <p:spPr>
          <a:xfrm>
            <a:off x="10058400" y="640080"/>
            <a:ext cx="128016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3"/>
          <p:cNvSpPr/>
          <p:nvPr/>
        </p:nvSpPr>
        <p:spPr>
          <a:xfrm>
            <a:off x="11301984" y="566928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3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3"/>
          <p:cNvCxnSpPr/>
          <p:nvPr/>
        </p:nvCxnSpPr>
        <p:spPr>
          <a:xfrm>
            <a:off x="0" y="6400800"/>
            <a:ext cx="100584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3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3"/>
          <p:cNvSpPr/>
          <p:nvPr/>
        </p:nvSpPr>
        <p:spPr>
          <a:xfrm>
            <a:off x="932688" y="5989320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548640" y="502920"/>
            <a:ext cx="109728" cy="713232"/>
          </a:xfrm>
          <a:prstGeom prst="roundRect">
            <a:avLst>
              <a:gd fmla="val 41667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758952" y="731520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2900"/>
              <a:buFont typeface="Malgun Gothic"/>
              <a:buNone/>
            </a:pPr>
            <a:r>
              <a:rPr b="1" i="0" lang="en-US" sz="29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 및 자동 분류의 필요성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방식의 한계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40080" y="1920240"/>
            <a:ext cx="4937760" cy="1143000"/>
          </a:xfrm>
          <a:prstGeom prst="roundRect">
            <a:avLst>
              <a:gd fmla="val 720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40080" y="1920240"/>
            <a:ext cx="91440" cy="1143000"/>
          </a:xfrm>
          <a:prstGeom prst="roundRect">
            <a:avLst>
              <a:gd fmla="val 30000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914400" y="208483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긴 판독 시간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914400" y="2487168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웨이퍼 수량 증가에 따라 육안 검토 시간이 선형적으로 증가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40080" y="3246120"/>
            <a:ext cx="4937760" cy="1143000"/>
          </a:xfrm>
          <a:prstGeom prst="roundRect">
            <a:avLst>
              <a:gd fmla="val 720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40080" y="3246120"/>
            <a:ext cx="91440" cy="1143000"/>
          </a:xfrm>
          <a:prstGeom prst="roundRect">
            <a:avLst>
              <a:gd fmla="val 30000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914400" y="341071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주관적 판단 기준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914400" y="381304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담당 엔지니어 경험·숙련도에 따라 분류 결과가 달라질 수 있음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40080" y="4572000"/>
            <a:ext cx="4937760" cy="1143000"/>
          </a:xfrm>
          <a:prstGeom prst="roundRect">
            <a:avLst>
              <a:gd fmla="val 720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40080" y="4572000"/>
            <a:ext cx="91440" cy="1143000"/>
          </a:xfrm>
          <a:prstGeom prst="roundRect">
            <a:avLst>
              <a:gd fmla="val 30000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914400" y="4736592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조기 감지 지연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914400" y="5138928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 패턴 인지가 늦어지면 수율 손실·품질 이슈가 확대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5989320" y="1920240"/>
            <a:ext cx="5532120" cy="3931920"/>
          </a:xfrm>
          <a:prstGeom prst="roundRect">
            <a:avLst>
              <a:gd fmla="val 2093" name="adj"/>
            </a:avLst>
          </a:prstGeom>
          <a:solidFill>
            <a:srgbClr val="16304E"/>
          </a:solidFill>
          <a:ln cap="flat" cmpd="sng" w="203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w_Center.png"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8160" y="214884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/>
          <p:nvPr/>
        </p:nvSpPr>
        <p:spPr>
          <a:xfrm>
            <a:off x="6172200" y="342900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900"/>
              <a:buFont typeface="Malgun Gothic"/>
              <a:buNone/>
            </a:pPr>
            <a:r>
              <a:rPr b="1" i="0" lang="en-US" sz="19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CNN 기반 웨이퍼맵 자동 분류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400800" y="402336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7E5F2"/>
              </a:buClr>
              <a:buSzPts val="1350"/>
              <a:buFont typeface="Malgun Gothic"/>
              <a:buChar char="→"/>
            </a:pPr>
            <a:r>
              <a:rPr b="0" i="0" lang="en-US" sz="13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공간 패턴의 일관된 기계적 학습 및 분류</a:t>
            </a:r>
            <a:endParaRPr b="0" i="0" sz="1350" u="none" cap="none" strike="noStrike">
              <a:solidFill>
                <a:srgbClr val="D7E5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7E5F2"/>
              </a:buClr>
              <a:buSzPts val="1350"/>
              <a:buFont typeface="Malgun Gothic"/>
              <a:buChar char="→"/>
            </a:pPr>
            <a:r>
              <a:rPr b="0" i="0" lang="en-US" sz="13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엔지니어 판독 의존도 감소 · 업무 집중도 향상</a:t>
            </a:r>
            <a:endParaRPr b="0" i="0" sz="1350" u="none" cap="none" strike="noStrike">
              <a:solidFill>
                <a:srgbClr val="D7E5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7E5F2"/>
              </a:buClr>
              <a:buSzPts val="1350"/>
              <a:buFont typeface="Malgun Gothic"/>
              <a:buChar char="→"/>
            </a:pPr>
            <a:r>
              <a:rPr b="0" i="0" lang="en-US" sz="13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 이상 조기 신호 포착으로 수율 보호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7844790" y="5349240"/>
            <a:ext cx="1943452" cy="384048"/>
          </a:xfrm>
          <a:prstGeom prst="roundRect">
            <a:avLst>
              <a:gd fmla="val 47619" name="adj"/>
            </a:avLst>
          </a:prstGeom>
          <a:solidFill>
            <a:srgbClr val="27D3EE">
              <a:alpha val="21960"/>
            </a:srgbClr>
          </a:solidFill>
          <a:ln cap="flat" cmpd="sng" w="127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7863840" y="5349240"/>
            <a:ext cx="19434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E4F5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6FE4F5"/>
                </a:solidFill>
                <a:latin typeface="Malgun Gothic"/>
                <a:ea typeface="Malgun Gothic"/>
                <a:cs typeface="Malgun Gothic"/>
                <a:sym typeface="Malgun Gothic"/>
              </a:rPr>
              <a:t>8가지 결함 패턴 자동 인식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3" name="Google Shape;133;p4"/>
          <p:cNvCxnSpPr/>
          <p:nvPr/>
        </p:nvCxnSpPr>
        <p:spPr>
          <a:xfrm>
            <a:off x="10058400" y="0"/>
            <a:ext cx="0" cy="64008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4"/>
          <p:cNvCxnSpPr/>
          <p:nvPr/>
        </p:nvCxnSpPr>
        <p:spPr>
          <a:xfrm>
            <a:off x="10058400" y="640080"/>
            <a:ext cx="128016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4"/>
          <p:cNvSpPr/>
          <p:nvPr/>
        </p:nvSpPr>
        <p:spPr>
          <a:xfrm>
            <a:off x="11301984" y="566928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4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4"/>
          <p:cNvCxnSpPr/>
          <p:nvPr/>
        </p:nvCxnSpPr>
        <p:spPr>
          <a:xfrm>
            <a:off x="0" y="6400800"/>
            <a:ext cx="100584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4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4"/>
          <p:cNvSpPr/>
          <p:nvPr/>
        </p:nvSpPr>
        <p:spPr>
          <a:xfrm>
            <a:off x="932688" y="5989320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548640" y="502920"/>
            <a:ext cx="109728" cy="713232"/>
          </a:xfrm>
          <a:prstGeom prst="roundRect">
            <a:avLst>
              <a:gd fmla="val 41667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758952" y="731520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2900"/>
              <a:buFont typeface="Malgun Gothic"/>
              <a:buNone/>
            </a:pPr>
            <a:r>
              <a:rPr b="1" i="0" lang="en-US" sz="29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웨이퍼맵 결함 패턴 개요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40080" y="13716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WM-811K — 실제 FAB 웨이퍼맵 · 8가지 주요 결함 클래스 (공간 패턴 = 공정 이상 신호)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40080" y="1828800"/>
            <a:ext cx="2606040" cy="2057400"/>
          </a:xfrm>
          <a:prstGeom prst="roundRect">
            <a:avLst>
              <a:gd fmla="val 400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w_Center.png" id="145" name="Google Shape;1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993392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/>
          <p:nvPr/>
        </p:nvSpPr>
        <p:spPr>
          <a:xfrm>
            <a:off x="640080" y="30632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Center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777240" y="3419856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중앙 공정 조건 / 온도 균일도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429000" y="1828800"/>
            <a:ext cx="2606040" cy="2057400"/>
          </a:xfrm>
          <a:prstGeom prst="roundRect">
            <a:avLst>
              <a:gd fmla="val 400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w_Donut.png" id="149" name="Google Shape;14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6240" y="1993392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/>
          <p:nvPr/>
        </p:nvSpPr>
        <p:spPr>
          <a:xfrm>
            <a:off x="3429000" y="30632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Donut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3566160" y="3419856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반경 방향 공정 균일도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6217920" y="1828800"/>
            <a:ext cx="2606040" cy="2057400"/>
          </a:xfrm>
          <a:prstGeom prst="roundRect">
            <a:avLst>
              <a:gd fmla="val 400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w_Edge-Ring.png" id="153" name="Google Shape;15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95160" y="1993392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"/>
          <p:cNvSpPr/>
          <p:nvPr/>
        </p:nvSpPr>
        <p:spPr>
          <a:xfrm>
            <a:off x="6217920" y="30632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Edge-Ring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355080" y="3419856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엣지 공정 조건 / 핸들링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9006840" y="1828800"/>
            <a:ext cx="2606040" cy="2057400"/>
          </a:xfrm>
          <a:prstGeom prst="roundRect">
            <a:avLst>
              <a:gd fmla="val 400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w_Edge-Loc.png" id="157" name="Google Shape;15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84080" y="1993392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"/>
          <p:cNvSpPr/>
          <p:nvPr/>
        </p:nvSpPr>
        <p:spPr>
          <a:xfrm>
            <a:off x="9006840" y="30632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Edge-Loc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9144000" y="3419856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국부 장비 접촉 / 포지셔닝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640080" y="4069080"/>
            <a:ext cx="2606040" cy="2057400"/>
          </a:xfrm>
          <a:prstGeom prst="roundRect">
            <a:avLst>
              <a:gd fmla="val 400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w_Scratch.png" id="161" name="Google Shape;16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17320" y="4233672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4"/>
          <p:cNvSpPr/>
          <p:nvPr/>
        </p:nvSpPr>
        <p:spPr>
          <a:xfrm>
            <a:off x="640080" y="53035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Scratch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777240" y="5660136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물리적 스크래치 / 이송 접촉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3429000" y="4069080"/>
            <a:ext cx="2606040" cy="2057400"/>
          </a:xfrm>
          <a:prstGeom prst="roundRect">
            <a:avLst>
              <a:gd fmla="val 400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w_Loc.png" id="165" name="Google Shape;16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06240" y="4233672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4"/>
          <p:cNvSpPr/>
          <p:nvPr/>
        </p:nvSpPr>
        <p:spPr>
          <a:xfrm>
            <a:off x="3429000" y="53035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Loc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3566160" y="5660136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파티클 / 국부 공정 편차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6217920" y="4069080"/>
            <a:ext cx="2606040" cy="2057400"/>
          </a:xfrm>
          <a:prstGeom prst="roundRect">
            <a:avLst>
              <a:gd fmla="val 400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w_Near-full.png" id="169" name="Google Shape;169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95160" y="4233672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4"/>
          <p:cNvSpPr/>
          <p:nvPr/>
        </p:nvSpPr>
        <p:spPr>
          <a:xfrm>
            <a:off x="6217920" y="53035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Near-full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355080" y="5660136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전역 공정 실패 / 레시피 오류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9006840" y="4069080"/>
            <a:ext cx="2606040" cy="2057400"/>
          </a:xfrm>
          <a:prstGeom prst="roundRect">
            <a:avLst>
              <a:gd fmla="val 400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w_Random.png" id="173" name="Google Shape;173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84080" y="4233672"/>
            <a:ext cx="1051560" cy="105156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"/>
          <p:cNvSpPr/>
          <p:nvPr/>
        </p:nvSpPr>
        <p:spPr>
          <a:xfrm>
            <a:off x="9006840" y="53035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Random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9144000" y="5660136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확률적 노이즈성 불량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3" name="Google Shape;183;p5"/>
          <p:cNvCxnSpPr/>
          <p:nvPr/>
        </p:nvCxnSpPr>
        <p:spPr>
          <a:xfrm>
            <a:off x="10058400" y="0"/>
            <a:ext cx="0" cy="64008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" name="Google Shape;184;p5"/>
          <p:cNvCxnSpPr/>
          <p:nvPr/>
        </p:nvCxnSpPr>
        <p:spPr>
          <a:xfrm>
            <a:off x="10058400" y="640080"/>
            <a:ext cx="128016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5"/>
          <p:cNvSpPr/>
          <p:nvPr/>
        </p:nvSpPr>
        <p:spPr>
          <a:xfrm>
            <a:off x="11301984" y="566928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" name="Google Shape;186;p5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5"/>
          <p:cNvCxnSpPr/>
          <p:nvPr/>
        </p:nvCxnSpPr>
        <p:spPr>
          <a:xfrm>
            <a:off x="0" y="6400800"/>
            <a:ext cx="100584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5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5"/>
          <p:cNvSpPr/>
          <p:nvPr/>
        </p:nvSpPr>
        <p:spPr>
          <a:xfrm>
            <a:off x="932688" y="5989320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548640" y="502920"/>
            <a:ext cx="109728" cy="713232"/>
          </a:xfrm>
          <a:prstGeom prst="roundRect">
            <a:avLst>
              <a:gd fmla="val 41667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PREPROCESSING</a:t>
            </a:r>
            <a:endParaRPr b="1" i="0" sz="1200" u="none" cap="none" strike="noStrike">
              <a:solidFill>
                <a:srgbClr val="3FB6E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758952" y="731520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2900"/>
              <a:buFont typeface="Malgun Gothic"/>
              <a:buNone/>
            </a:pPr>
            <a:r>
              <a:rPr b="1" i="0" lang="en-US" sz="29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전처리 및 EDA</a:t>
            </a:r>
            <a:endParaRPr b="1" i="0" sz="2900" u="none" cap="none" strike="noStrike">
              <a:solidFill>
                <a:srgbClr val="F5FA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640080" y="13716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클래스별 샘플 웨이퍼맵 시각화</a:t>
            </a:r>
            <a:endParaRPr b="0" i="0" sz="1300" u="none" cap="none" strike="noStrike">
              <a:solidFill>
                <a:srgbClr val="3FB6E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4" name="Google Shape;1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4933" y="1691640"/>
            <a:ext cx="7681828" cy="4548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6"/>
          <p:cNvCxnSpPr/>
          <p:nvPr/>
        </p:nvCxnSpPr>
        <p:spPr>
          <a:xfrm>
            <a:off x="10058400" y="0"/>
            <a:ext cx="0" cy="64008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6"/>
          <p:cNvCxnSpPr/>
          <p:nvPr/>
        </p:nvCxnSpPr>
        <p:spPr>
          <a:xfrm>
            <a:off x="10058400" y="640080"/>
            <a:ext cx="128016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6"/>
          <p:cNvSpPr/>
          <p:nvPr/>
        </p:nvSpPr>
        <p:spPr>
          <a:xfrm>
            <a:off x="11301984" y="566928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6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6"/>
          <p:cNvCxnSpPr/>
          <p:nvPr/>
        </p:nvCxnSpPr>
        <p:spPr>
          <a:xfrm>
            <a:off x="0" y="6400800"/>
            <a:ext cx="100584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6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6"/>
          <p:cNvSpPr/>
          <p:nvPr/>
        </p:nvSpPr>
        <p:spPr>
          <a:xfrm>
            <a:off x="932688" y="5989320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48640" y="502920"/>
            <a:ext cx="109728" cy="713232"/>
          </a:xfrm>
          <a:prstGeom prst="roundRect">
            <a:avLst>
              <a:gd fmla="val 41667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PREPROCESSING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758952" y="731520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2900"/>
              <a:buFont typeface="Malgun Gothic"/>
              <a:buNone/>
            </a:pPr>
            <a:r>
              <a:rPr b="1" i="0" lang="en-US" sz="29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전처리 및 EDA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640080" y="1508760"/>
            <a:ext cx="5212080" cy="4206240"/>
          </a:xfrm>
          <a:prstGeom prst="roundRect">
            <a:avLst>
              <a:gd fmla="val 1957" name="adj"/>
            </a:avLst>
          </a:prstGeom>
          <a:solidFill>
            <a:srgbClr val="16304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868680" y="1691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이슈 — 클래스 불균형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868680" y="2025015"/>
            <a:ext cx="4846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정상(none) </a:t>
            </a:r>
            <a:r>
              <a:rPr b="1" i="0" lang="en-US" sz="14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</a:t>
            </a:r>
            <a:r>
              <a:rPr b="1" i="0" lang="en-US" sz="1400" u="none" cap="none" strike="noStrike">
                <a:solidFill>
                  <a:srgbClr val="39BBE7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r>
            <a:r>
              <a:rPr b="1" i="0" lang="en-US" sz="14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6%</a:t>
            </a:r>
            <a:endParaRPr b="1" i="0" sz="1400" u="none" cap="none" strike="noStrike">
              <a:solidFill>
                <a:srgbClr val="27D3E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 8종 합계 </a:t>
            </a:r>
            <a:r>
              <a:rPr b="1" i="0" lang="en-US" sz="14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14%</a:t>
            </a:r>
            <a:endParaRPr b="1" i="0" sz="1400" u="none" cap="none" strike="noStrike">
              <a:solidFill>
                <a:srgbClr val="27D3E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정확도(accuracy)만으로는 </a:t>
            </a:r>
            <a:r>
              <a:rPr b="1" i="0" lang="en-US" sz="140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 왜곡</a:t>
            </a:r>
            <a:endParaRPr b="1" i="0" sz="1400" u="none" cap="none" strike="noStrike">
              <a:solidFill>
                <a:srgbClr val="9FB6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15" name="Google Shape;215;p6"/>
          <p:cNvCxnSpPr/>
          <p:nvPr/>
        </p:nvCxnSpPr>
        <p:spPr>
          <a:xfrm>
            <a:off x="868680" y="3383280"/>
            <a:ext cx="4754880" cy="0"/>
          </a:xfrm>
          <a:prstGeom prst="straightConnector1">
            <a:avLst/>
          </a:prstGeom>
          <a:noFill/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6"/>
          <p:cNvSpPr/>
          <p:nvPr/>
        </p:nvSpPr>
        <p:spPr>
          <a:xfrm>
            <a:off x="6080760" y="1508760"/>
            <a:ext cx="5440680" cy="4206240"/>
          </a:xfrm>
          <a:prstGeom prst="roundRect">
            <a:avLst>
              <a:gd fmla="val 1957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6309360" y="1691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대응 전략</a:t>
            </a:r>
            <a:endParaRPr b="1" i="0" sz="1600" u="none" cap="none" strike="noStrike">
              <a:solidFill>
                <a:srgbClr val="3FB6E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6309360" y="2194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1" i="0" sz="1700" u="none" cap="none" strike="noStrike">
              <a:solidFill>
                <a:srgbClr val="27D3E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9" name="Google Shape;2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1688" y="3520440"/>
            <a:ext cx="4108863" cy="202842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/>
          <p:nvPr/>
        </p:nvSpPr>
        <p:spPr>
          <a:xfrm>
            <a:off x="6309360" y="1889760"/>
            <a:ext cx="506539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7E5F2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 미검토(</a:t>
            </a:r>
            <a:r>
              <a:rPr b="1" i="0" lang="en-US" sz="1250" u="none" cap="none" strike="noStrike">
                <a:solidFill>
                  <a:srgbClr val="39BBE7"/>
                </a:solidFill>
                <a:latin typeface="Malgun Gothic"/>
                <a:ea typeface="Malgun Gothic"/>
                <a:cs typeface="Malgun Gothic"/>
                <a:sym typeface="Malgun Gothic"/>
              </a:rPr>
              <a:t>unlabeled</a:t>
            </a: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) </a:t>
            </a:r>
            <a:r>
              <a:rPr b="1" i="0" lang="en-US" sz="1250" u="none" cap="none" strike="noStrike">
                <a:solidFill>
                  <a:srgbClr val="39BBE7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 제외</a:t>
            </a: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 — '정상'과 구분</a:t>
            </a:r>
            <a:endParaRPr b="0" i="0" sz="1250" u="none" cap="none" strike="noStrike">
              <a:solidFill>
                <a:srgbClr val="D7E5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7E5F2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CAP_NONE — </a:t>
            </a:r>
            <a:r>
              <a:rPr b="1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클래스 </a:t>
            </a:r>
            <a:r>
              <a:rPr b="1" i="0" lang="en-US" sz="1250" u="none" cap="none" strike="noStrike">
                <a:solidFill>
                  <a:srgbClr val="39BBE7"/>
                </a:solidFill>
                <a:latin typeface="Malgun Gothic"/>
                <a:ea typeface="Malgun Gothic"/>
                <a:cs typeface="Malgun Gothic"/>
                <a:sym typeface="Malgun Gothic"/>
              </a:rPr>
              <a:t>20000으로 상한</a:t>
            </a: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, 결함은 전부 유지</a:t>
            </a:r>
            <a:endParaRPr b="0" i="0" sz="1250" u="none" cap="none" strike="noStrike">
              <a:solidFill>
                <a:srgbClr val="D7E5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9BBE7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39BBE7"/>
                </a:solidFill>
                <a:latin typeface="Malgun Gothic"/>
                <a:ea typeface="Malgun Gothic"/>
                <a:cs typeface="Malgun Gothic"/>
                <a:sym typeface="Malgun Gothic"/>
              </a:rPr>
              <a:t>Focal Loss</a:t>
            </a: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 불균형 보정 (학습 단계) — </a:t>
            </a:r>
            <a:r>
              <a:rPr b="1" i="0" lang="en-US" sz="1250" u="none" cap="none" strike="noStrike">
                <a:solidFill>
                  <a:srgbClr val="39BBE7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GAMMA</a:t>
            </a: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값 2.0 -&gt; </a:t>
            </a:r>
            <a:r>
              <a:rPr b="1" i="0" lang="en-US" sz="1250" u="none" cap="none" strike="noStrike">
                <a:solidFill>
                  <a:srgbClr val="39BBE7"/>
                </a:solidFill>
                <a:latin typeface="Malgun Gothic"/>
                <a:ea typeface="Malgun Gothic"/>
                <a:cs typeface="Malgun Gothic"/>
                <a:sym typeface="Malgun Gothic"/>
              </a:rPr>
              <a:t>3.0</a:t>
            </a:r>
            <a:endParaRPr b="1" i="0" sz="1250" u="none" cap="none" strike="noStrike">
              <a:solidFill>
                <a:srgbClr val="39BBE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21" name="Google Shape;22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7627" y="3520440"/>
            <a:ext cx="4108862" cy="202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7"/>
          <p:cNvCxnSpPr/>
          <p:nvPr/>
        </p:nvCxnSpPr>
        <p:spPr>
          <a:xfrm>
            <a:off x="10058400" y="0"/>
            <a:ext cx="0" cy="64008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7"/>
          <p:cNvCxnSpPr/>
          <p:nvPr/>
        </p:nvCxnSpPr>
        <p:spPr>
          <a:xfrm>
            <a:off x="10058400" y="640080"/>
            <a:ext cx="128016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7"/>
          <p:cNvSpPr/>
          <p:nvPr/>
        </p:nvSpPr>
        <p:spPr>
          <a:xfrm>
            <a:off x="11301984" y="566928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7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7"/>
          <p:cNvCxnSpPr/>
          <p:nvPr/>
        </p:nvCxnSpPr>
        <p:spPr>
          <a:xfrm>
            <a:off x="0" y="6400800"/>
            <a:ext cx="100584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7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7"/>
          <p:cNvSpPr/>
          <p:nvPr/>
        </p:nvSpPr>
        <p:spPr>
          <a:xfrm>
            <a:off x="932688" y="5989320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548640" y="502920"/>
            <a:ext cx="109728" cy="713232"/>
          </a:xfrm>
          <a:prstGeom prst="roundRect">
            <a:avLst>
              <a:gd fmla="val 41667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 PREPROCESSING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758952" y="731520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2900"/>
              <a:buFont typeface="Malgun Gothic"/>
              <a:buNone/>
            </a:pPr>
            <a:r>
              <a:rPr b="1" i="0" lang="en-US" sz="29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전처리 및 EDA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640080" y="1508760"/>
            <a:ext cx="5212080" cy="4206240"/>
          </a:xfrm>
          <a:prstGeom prst="roundRect">
            <a:avLst>
              <a:gd fmla="val 1957" name="adj"/>
            </a:avLst>
          </a:prstGeom>
          <a:solidFill>
            <a:srgbClr val="16304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6080760" y="1508760"/>
            <a:ext cx="5440680" cy="4206240"/>
          </a:xfrm>
          <a:prstGeom prst="roundRect">
            <a:avLst>
              <a:gd fmla="val 1957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309360" y="1691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전처리 파이프라인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6309360" y="219456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0B1A2E"/>
          </a:solidFill>
          <a:ln cap="flat" cmpd="sng" w="165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6309360" y="2194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995160" y="2176272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웨이퍼맵 리사이즈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995160" y="2505456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가변 크기 → 128×128 (최근접 보간, 0/1/2 값 보존)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6309360" y="3044952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0B1A2E"/>
          </a:solidFill>
          <a:ln cap="flat" cmpd="sng" w="165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6309360" y="304495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995160" y="3026664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정규화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6995160" y="3355848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Rescaling(1/2) — 0/1/2 값을 0~1 범위로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309360" y="3895344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0B1A2E"/>
          </a:solidFill>
          <a:ln cap="flat" cmpd="sng" w="165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309360" y="389534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6995160" y="3877056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 인코딩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995160" y="42062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LabelEncoder → one-hot (Focal Loss용)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309360" y="4745736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0B1A2E"/>
          </a:solidFill>
          <a:ln cap="flat" cmpd="sng" w="165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6309360" y="474573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6995160" y="4727448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학습/테스트 분리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995160" y="5056632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train_test_split · stratify로 클래스 비율 유지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5857" y="3164966"/>
            <a:ext cx="4200525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9030" y="1721230"/>
            <a:ext cx="4714179" cy="1149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8"/>
          <p:cNvCxnSpPr/>
          <p:nvPr/>
        </p:nvCxnSpPr>
        <p:spPr>
          <a:xfrm>
            <a:off x="10058400" y="0"/>
            <a:ext cx="0" cy="64008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8"/>
          <p:cNvCxnSpPr/>
          <p:nvPr/>
        </p:nvCxnSpPr>
        <p:spPr>
          <a:xfrm>
            <a:off x="10058400" y="640080"/>
            <a:ext cx="128016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8"/>
          <p:cNvSpPr/>
          <p:nvPr/>
        </p:nvSpPr>
        <p:spPr>
          <a:xfrm>
            <a:off x="11301984" y="566928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0" name="Google Shape;270;p8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8"/>
          <p:cNvCxnSpPr/>
          <p:nvPr/>
        </p:nvCxnSpPr>
        <p:spPr>
          <a:xfrm>
            <a:off x="0" y="6400800"/>
            <a:ext cx="100584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8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8"/>
          <p:cNvSpPr/>
          <p:nvPr/>
        </p:nvSpPr>
        <p:spPr>
          <a:xfrm>
            <a:off x="932688" y="5989320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548640" y="502920"/>
            <a:ext cx="109728" cy="713232"/>
          </a:xfrm>
          <a:prstGeom prst="roundRect">
            <a:avLst>
              <a:gd fmla="val 41667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 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758952" y="731520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2900"/>
              <a:buFont typeface="Malgun Gothic"/>
              <a:buNone/>
            </a:pPr>
            <a:r>
              <a:rPr b="1" i="0" lang="en-US" sz="29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CNN 모델 설계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640080" y="1828800"/>
            <a:ext cx="1371600" cy="1325880"/>
          </a:xfrm>
          <a:prstGeom prst="roundRect">
            <a:avLst>
              <a:gd fmla="val 5517" name="adj"/>
            </a:avLst>
          </a:prstGeom>
          <a:solidFill>
            <a:srgbClr val="13253E"/>
          </a:solidFill>
          <a:ln cap="flat" cmpd="sng" w="165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640080" y="1828800"/>
            <a:ext cx="1371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Input</a:t>
            </a:r>
            <a:endParaRPr b="1" i="0" sz="1200" u="none" cap="none" strike="noStrike">
              <a:solidFill>
                <a:srgbClr val="F5FA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128×128×1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8"/>
          <p:cNvCxnSpPr/>
          <p:nvPr/>
        </p:nvCxnSpPr>
        <p:spPr>
          <a:xfrm>
            <a:off x="2020824" y="2487168"/>
            <a:ext cx="201168" cy="0"/>
          </a:xfrm>
          <a:prstGeom prst="straightConnector1">
            <a:avLst/>
          </a:prstGeom>
          <a:noFill/>
          <a:ln cap="flat" cmpd="sng" w="19050">
            <a:solidFill>
              <a:srgbClr val="27D3E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0" name="Google Shape;280;p8"/>
          <p:cNvSpPr/>
          <p:nvPr/>
        </p:nvSpPr>
        <p:spPr>
          <a:xfrm>
            <a:off x="2231136" y="1828800"/>
            <a:ext cx="1371600" cy="1325880"/>
          </a:xfrm>
          <a:prstGeom prst="roundRect">
            <a:avLst>
              <a:gd fmla="val 5517" name="adj"/>
            </a:avLst>
          </a:prstGeom>
          <a:solidFill>
            <a:srgbClr val="13253E"/>
          </a:solidFill>
          <a:ln cap="flat" cmpd="sng" w="165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2231136" y="1828800"/>
            <a:ext cx="1371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Conv2D 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8"/>
          <p:cNvCxnSpPr/>
          <p:nvPr/>
        </p:nvCxnSpPr>
        <p:spPr>
          <a:xfrm>
            <a:off x="3611880" y="2487168"/>
            <a:ext cx="201168" cy="0"/>
          </a:xfrm>
          <a:prstGeom prst="straightConnector1">
            <a:avLst/>
          </a:prstGeom>
          <a:noFill/>
          <a:ln cap="flat" cmpd="sng" w="19050">
            <a:solidFill>
              <a:srgbClr val="27D3E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3" name="Google Shape;283;p8"/>
          <p:cNvSpPr/>
          <p:nvPr/>
        </p:nvSpPr>
        <p:spPr>
          <a:xfrm>
            <a:off x="2231136" y="3200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+MaxPool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822192" y="1828800"/>
            <a:ext cx="1371600" cy="1325880"/>
          </a:xfrm>
          <a:prstGeom prst="roundRect">
            <a:avLst>
              <a:gd fmla="val 5517" name="adj"/>
            </a:avLst>
          </a:prstGeom>
          <a:solidFill>
            <a:srgbClr val="13253E"/>
          </a:solidFill>
          <a:ln cap="flat" cmpd="sng" w="165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3822192" y="1828800"/>
            <a:ext cx="1371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Conv2D 32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8"/>
          <p:cNvCxnSpPr/>
          <p:nvPr/>
        </p:nvCxnSpPr>
        <p:spPr>
          <a:xfrm>
            <a:off x="5202936" y="2487168"/>
            <a:ext cx="201168" cy="0"/>
          </a:xfrm>
          <a:prstGeom prst="straightConnector1">
            <a:avLst/>
          </a:prstGeom>
          <a:noFill/>
          <a:ln cap="flat" cmpd="sng" w="19050">
            <a:solidFill>
              <a:srgbClr val="27D3E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7" name="Google Shape;287;p8"/>
          <p:cNvSpPr/>
          <p:nvPr/>
        </p:nvSpPr>
        <p:spPr>
          <a:xfrm>
            <a:off x="3822192" y="3200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+MaxPool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5413248" y="1828800"/>
            <a:ext cx="1371600" cy="1325880"/>
          </a:xfrm>
          <a:prstGeom prst="roundRect">
            <a:avLst>
              <a:gd fmla="val 5517" name="adj"/>
            </a:avLst>
          </a:prstGeom>
          <a:solidFill>
            <a:srgbClr val="13253E"/>
          </a:solidFill>
          <a:ln cap="flat" cmpd="sng" w="165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5413248" y="1828800"/>
            <a:ext cx="1371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Conv2D 64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0" name="Google Shape;290;p8"/>
          <p:cNvCxnSpPr/>
          <p:nvPr/>
        </p:nvCxnSpPr>
        <p:spPr>
          <a:xfrm>
            <a:off x="6793992" y="2487168"/>
            <a:ext cx="201168" cy="0"/>
          </a:xfrm>
          <a:prstGeom prst="straightConnector1">
            <a:avLst/>
          </a:prstGeom>
          <a:noFill/>
          <a:ln cap="flat" cmpd="sng" w="19050">
            <a:solidFill>
              <a:srgbClr val="27D3E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1" name="Google Shape;291;p8"/>
          <p:cNvSpPr/>
          <p:nvPr/>
        </p:nvSpPr>
        <p:spPr>
          <a:xfrm>
            <a:off x="5413248" y="3200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+MaxPool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7004304" y="1828800"/>
            <a:ext cx="1371600" cy="1325880"/>
          </a:xfrm>
          <a:prstGeom prst="roundRect">
            <a:avLst>
              <a:gd fmla="val 5517" name="adj"/>
            </a:avLst>
          </a:prstGeom>
          <a:solidFill>
            <a:srgbClr val="13253E"/>
          </a:solidFill>
          <a:ln cap="flat" cmpd="sng" w="165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7004304" y="1828800"/>
            <a:ext cx="1371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Conv2D 128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8"/>
          <p:cNvCxnSpPr/>
          <p:nvPr/>
        </p:nvCxnSpPr>
        <p:spPr>
          <a:xfrm>
            <a:off x="8385048" y="2487168"/>
            <a:ext cx="201168" cy="0"/>
          </a:xfrm>
          <a:prstGeom prst="straightConnector1">
            <a:avLst/>
          </a:prstGeom>
          <a:noFill/>
          <a:ln cap="flat" cmpd="sng" w="19050">
            <a:solidFill>
              <a:srgbClr val="27D3E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5" name="Google Shape;295;p8"/>
          <p:cNvSpPr/>
          <p:nvPr/>
        </p:nvSpPr>
        <p:spPr>
          <a:xfrm>
            <a:off x="7004304" y="32004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+MaxPool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8595360" y="1828800"/>
            <a:ext cx="1371600" cy="1325880"/>
          </a:xfrm>
          <a:prstGeom prst="roundRect">
            <a:avLst>
              <a:gd fmla="val 5517" name="adj"/>
            </a:avLst>
          </a:prstGeom>
          <a:solidFill>
            <a:srgbClr val="13253E"/>
          </a:solidFill>
          <a:ln cap="flat" cmpd="sng" w="165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8595360" y="1828800"/>
            <a:ext cx="1371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Dense 128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8"/>
          <p:cNvCxnSpPr/>
          <p:nvPr/>
        </p:nvCxnSpPr>
        <p:spPr>
          <a:xfrm>
            <a:off x="9976104" y="2487168"/>
            <a:ext cx="201168" cy="0"/>
          </a:xfrm>
          <a:prstGeom prst="straightConnector1">
            <a:avLst/>
          </a:prstGeom>
          <a:noFill/>
          <a:ln cap="flat" cmpd="sng" w="19050">
            <a:solidFill>
              <a:srgbClr val="27D3E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9" name="Google Shape;299;p8"/>
          <p:cNvSpPr/>
          <p:nvPr/>
        </p:nvSpPr>
        <p:spPr>
          <a:xfrm>
            <a:off x="10186416" y="1828800"/>
            <a:ext cx="1371600" cy="1325880"/>
          </a:xfrm>
          <a:prstGeom prst="roundRect">
            <a:avLst>
              <a:gd fmla="val 5517" name="adj"/>
            </a:avLst>
          </a:prstGeom>
          <a:solidFill>
            <a:srgbClr val="27D3EE"/>
          </a:solidFill>
          <a:ln cap="flat" cmpd="sng" w="165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10186416" y="1828800"/>
            <a:ext cx="13716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B1A2E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B1A2E"/>
                </a:solidFill>
                <a:latin typeface="Malgun Gothic"/>
                <a:ea typeface="Malgun Gothic"/>
                <a:cs typeface="Malgun Gothic"/>
                <a:sym typeface="Malgun Gothic"/>
              </a:rPr>
              <a:t>Softmax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640080" y="3977640"/>
            <a:ext cx="5349240" cy="1828800"/>
          </a:xfrm>
          <a:prstGeom prst="roundRect">
            <a:avLst>
              <a:gd fmla="val 4500" name="adj"/>
            </a:avLst>
          </a:prstGeom>
          <a:solidFill>
            <a:srgbClr val="16304E"/>
          </a:solidFill>
          <a:ln cap="flat" cmpd="sng" w="17775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868680" y="41605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Focal Loss (γ = 3.0)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868680" y="457200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5F2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맞히기 쉬운 다수 클래스(none)의 손실을 깎아</a:t>
            </a:r>
            <a:endParaRPr b="0" i="0" sz="1300" u="none" cap="none" strike="noStrike">
              <a:solidFill>
                <a:srgbClr val="D7E5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5F2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드문 결함 패턴 학습에 집중 → 불균형 보정의 핵심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6172200" y="3977640"/>
            <a:ext cx="5349240" cy="1828800"/>
          </a:xfrm>
          <a:prstGeom prst="roundRect">
            <a:avLst>
              <a:gd fmla="val 450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6400800" y="4114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Optimizer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8229600" y="41148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Adam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6400800" y="450799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Activation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8229600" y="4507992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ReLU / Softmax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6400800" y="4901184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과적합 방지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8229600" y="4901184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Augmentation · Dropout 0.3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6400800" y="5294376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해상도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8229600" y="5294376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128×128 (Loc/Edge-Loc 구분 강화,</a:t>
            </a:r>
            <a:endParaRPr b="0" i="0" sz="1250" u="none" cap="none" strike="noStrike">
              <a:solidFill>
                <a:srgbClr val="F5FA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Edge-Loc/Edge-Ring 구분 강화)</a:t>
            </a:r>
            <a:endParaRPr b="0" i="0" sz="1250" u="none" cap="none" strike="noStrike">
              <a:solidFill>
                <a:srgbClr val="F5FA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"/>
          <p:cNvSpPr/>
          <p:nvPr/>
        </p:nvSpPr>
        <p:spPr>
          <a:xfrm>
            <a:off x="6080760" y="1554480"/>
            <a:ext cx="5440680" cy="4114800"/>
          </a:xfrm>
          <a:prstGeom prst="roundRect">
            <a:avLst>
              <a:gd fmla="val 2000" name="adj"/>
            </a:avLst>
          </a:prstGeom>
          <a:solidFill>
            <a:srgbClr val="16304E"/>
          </a:solidFill>
          <a:ln cap="flat" cmpd="sng" w="17775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6309360" y="17830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1700" u="none" cap="none" strike="noStrike">
              <a:solidFill>
                <a:srgbClr val="27D3E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6309360" y="178308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0B1A2E"/>
          </a:solidFill>
          <a:ln cap="flat" cmpd="sng" w="165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9"/>
          <p:cNvCxnSpPr/>
          <p:nvPr/>
        </p:nvCxnSpPr>
        <p:spPr>
          <a:xfrm>
            <a:off x="10058400" y="0"/>
            <a:ext cx="0" cy="64008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9"/>
          <p:cNvCxnSpPr/>
          <p:nvPr/>
        </p:nvCxnSpPr>
        <p:spPr>
          <a:xfrm>
            <a:off x="10058400" y="640080"/>
            <a:ext cx="128016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9"/>
          <p:cNvSpPr/>
          <p:nvPr/>
        </p:nvSpPr>
        <p:spPr>
          <a:xfrm>
            <a:off x="11301984" y="566928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9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9"/>
          <p:cNvCxnSpPr/>
          <p:nvPr/>
        </p:nvCxnSpPr>
        <p:spPr>
          <a:xfrm>
            <a:off x="0" y="6400800"/>
            <a:ext cx="100584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9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9"/>
          <p:cNvSpPr/>
          <p:nvPr/>
        </p:nvSpPr>
        <p:spPr>
          <a:xfrm>
            <a:off x="932688" y="5989320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548640" y="502920"/>
            <a:ext cx="109728" cy="713232"/>
          </a:xfrm>
          <a:prstGeom prst="roundRect">
            <a:avLst>
              <a:gd fmla="val 41667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 TRAINING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758952" y="731520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2900"/>
              <a:buFont typeface="Malgun Gothic"/>
              <a:buNone/>
            </a:pPr>
            <a:r>
              <a:rPr b="1" i="0" lang="en-US" sz="29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및 실험 관리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640080" y="1554480"/>
            <a:ext cx="5349240" cy="4114800"/>
          </a:xfrm>
          <a:prstGeom prst="roundRect">
            <a:avLst>
              <a:gd fmla="val 200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868680" y="17373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전략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868680" y="219456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0B1A2E"/>
          </a:solidFill>
          <a:ln cap="flat" cmpd="sng" w="165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868680" y="21945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1554480" y="2176272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Focal Loss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1554480" y="250545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다수 클래스 억제, 드문 결함에 집중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868680" y="3044952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0B1A2E"/>
          </a:solidFill>
          <a:ln cap="flat" cmpd="sng" w="165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868680" y="304495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1554480" y="3026664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EarlyStopping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1554480" y="335584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val_loss 5회 미개선 시 중단, 최적 가중치 복원</a:t>
            </a:r>
            <a:endParaRPr b="0" i="0" sz="1100" u="none" cap="none" strike="noStrike">
              <a:solidFill>
                <a:srgbClr val="9FB6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868680" y="3895344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0B1A2E"/>
          </a:solidFill>
          <a:ln cap="flat" cmpd="sng" w="165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868680" y="389534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1554480" y="3877056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Class 유지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1554480" y="42062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결함 8종 전부 사용 (데이터 안 버림)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868680" y="4745736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0B1A2E"/>
          </a:solidFill>
          <a:ln cap="flat" cmpd="sng" w="165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868680" y="474573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1554480" y="472744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Batch / Epoch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1554480" y="505663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32 / 최대 </a:t>
            </a:r>
            <a:r>
              <a:rPr lang="en-US" sz="1100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b="0" i="0" lang="en-US" sz="110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0 (상한, 자동 조기 종료)</a:t>
            </a:r>
            <a:endParaRPr b="0" i="0" sz="1100" u="none" cap="none" strike="noStrike">
              <a:solidFill>
                <a:srgbClr val="9FB6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6966585" y="17373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MLflow 실험 추적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6957060" y="208330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설정·기법을 바꿀 때마다 자동 기록 → 실험 비교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6309350" y="2382396"/>
            <a:ext cx="5120700" cy="12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Parameters  </a:t>
            </a:r>
            <a:r>
              <a:rPr b="0" i="0" lang="en-US" sz="12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img_size · focal_gamma · cap_none · batch</a:t>
            </a:r>
            <a:endParaRPr b="0" i="0" sz="1250" u="none" cap="none" strike="noStrike">
              <a:solidFill>
                <a:srgbClr val="F5FA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Metrics  </a:t>
            </a:r>
            <a:r>
              <a:rPr b="0" i="0" lang="en-US" sz="12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test_accuracy · macro_f1 </a:t>
            </a:r>
            <a:r>
              <a:rPr lang="en-US" sz="1250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b="0" i="0" lang="en-US" sz="12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precision · 클래스별 recall</a:t>
            </a:r>
            <a:endParaRPr b="0" i="0" sz="1250" u="none" cap="none" strike="noStrike">
              <a:solidFill>
                <a:srgbClr val="F5FA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Artifacts  </a:t>
            </a:r>
            <a:r>
              <a:rPr b="0" i="0" lang="en-US" sz="12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혼동행렬 이미지 · 분류 리포트</a:t>
            </a:r>
            <a:endParaRPr b="0" i="0" sz="1250" u="none" cap="none" strike="noStrike">
              <a:solidFill>
                <a:srgbClr val="F5FA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Model  </a:t>
            </a:r>
            <a:r>
              <a:rPr b="0" i="0" lang="en-US" sz="125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모델 버전 자동 저장</a:t>
            </a:r>
            <a:endParaRPr b="0" i="0" sz="1250" u="none" cap="none" strike="noStrike">
              <a:solidFill>
                <a:srgbClr val="F5FA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6309360" y="178612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1700"/>
              <a:buFont typeface="Malgun Gothic"/>
              <a:buNone/>
            </a:pPr>
            <a:r>
              <a:rPr b="1" i="0" lang="en-US" sz="17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1" i="0" sz="1700" u="none" cap="none" strike="noStrike">
              <a:solidFill>
                <a:srgbClr val="27D3E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55" name="Google Shape;355;p9" title="MLflow_macro f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2038" y="3688933"/>
            <a:ext cx="3678126" cy="183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0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10"/>
          <p:cNvCxnSpPr/>
          <p:nvPr/>
        </p:nvCxnSpPr>
        <p:spPr>
          <a:xfrm>
            <a:off x="10058400" y="0"/>
            <a:ext cx="0" cy="64008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" name="Google Shape;364;p10"/>
          <p:cNvCxnSpPr/>
          <p:nvPr/>
        </p:nvCxnSpPr>
        <p:spPr>
          <a:xfrm>
            <a:off x="10058400" y="640080"/>
            <a:ext cx="128016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p10"/>
          <p:cNvSpPr/>
          <p:nvPr/>
        </p:nvSpPr>
        <p:spPr>
          <a:xfrm>
            <a:off x="11301984" y="566928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10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10"/>
          <p:cNvCxnSpPr/>
          <p:nvPr/>
        </p:nvCxnSpPr>
        <p:spPr>
          <a:xfrm>
            <a:off x="0" y="6400800"/>
            <a:ext cx="100584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10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10"/>
          <p:cNvSpPr/>
          <p:nvPr/>
        </p:nvSpPr>
        <p:spPr>
          <a:xfrm>
            <a:off x="932688" y="5989320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548640" y="502920"/>
            <a:ext cx="109728" cy="713232"/>
          </a:xfrm>
          <a:prstGeom prst="roundRect">
            <a:avLst>
              <a:gd fmla="val 41667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</a:t>
            </a:r>
            <a:r>
              <a:rPr b="1" lang="en-US" sz="1200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 TRAINING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758952" y="731520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2900"/>
              <a:buFont typeface="Malgun Gothic"/>
              <a:buNone/>
            </a:pPr>
            <a:r>
              <a:rPr b="1" i="0" lang="en-US" sz="29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비교 — 클래스 불균형 튜닝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640080" y="1554480"/>
            <a:ext cx="5943600" cy="4160520"/>
          </a:xfrm>
          <a:prstGeom prst="roundRect">
            <a:avLst>
              <a:gd fmla="val 1978" name="adj"/>
            </a:avLst>
          </a:prstGeom>
          <a:solidFill>
            <a:srgbClr val="16304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pnone_chart.png" id="374" name="Google Shape;3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148840"/>
            <a:ext cx="5486400" cy="2606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0"/>
          <p:cNvSpPr/>
          <p:nvPr/>
        </p:nvSpPr>
        <p:spPr>
          <a:xfrm>
            <a:off x="640080" y="493776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CAP_NONE 값에 따른 Macro-F1 변화 (MLflow </a:t>
            </a:r>
            <a:r>
              <a:rPr lang="en-US" sz="1150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r>
              <a:rPr b="0" i="0" lang="en-US" sz="11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 run 비교)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6766560" y="1554480"/>
            <a:ext cx="4754880" cy="4160520"/>
          </a:xfrm>
          <a:prstGeom prst="roundRect">
            <a:avLst>
              <a:gd fmla="val 1978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6995160" y="173736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인사이트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6995160" y="2240280"/>
            <a:ext cx="42976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7E5F2"/>
              </a:buClr>
              <a:buSzPts val="1250"/>
              <a:buFont typeface="Malgun Gothic"/>
              <a:buChar char="→"/>
            </a:pP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none(</a:t>
            </a:r>
            <a:r>
              <a:rPr lang="en-US" sz="1250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정상)</a:t>
            </a: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 줄일수록 결함 recall은 계속 상승</a:t>
            </a:r>
            <a:endParaRPr b="0" i="0" sz="1250" u="none" cap="none" strike="noStrike">
              <a:solidFill>
                <a:srgbClr val="D7E5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7E5F2"/>
              </a:buClr>
              <a:buSzPts val="1250"/>
              <a:buFont typeface="Malgun Gothic"/>
              <a:buChar char="→"/>
            </a:pP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그러나 10,000 미만에선 정상 오판(false alarm)이 늘어 Macro-F1 하락</a:t>
            </a:r>
            <a:endParaRPr b="0" i="0" sz="1250" u="none" cap="none" strike="noStrike">
              <a:solidFill>
                <a:srgbClr val="D7E5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7E5F2"/>
              </a:buClr>
              <a:buSzPts val="1250"/>
              <a:buFont typeface="Malgun Gothic"/>
              <a:buChar char="→"/>
            </a:pP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recall 단일 지표가 아닌 Macro-F1 기준으로 최적점 탐색</a:t>
            </a:r>
            <a:endParaRPr b="0" i="0" sz="1250" u="none" cap="none" strike="noStrike">
              <a:solidFill>
                <a:srgbClr val="D7E5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7E5F2"/>
              </a:buClr>
              <a:buSzPts val="1250"/>
              <a:buFont typeface="Malgun Gothic"/>
              <a:buChar char="→"/>
            </a:pP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cap=10,000을 최종 채택 (변곡점)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6995160" y="4983480"/>
            <a:ext cx="4297680" cy="566928"/>
          </a:xfrm>
          <a:prstGeom prst="roundRect">
            <a:avLst>
              <a:gd fmla="val 12903" name="adj"/>
            </a:avLst>
          </a:prstGeom>
          <a:solidFill>
            <a:srgbClr val="27D3EE">
              <a:alpha val="20000"/>
            </a:srgbClr>
          </a:solidFill>
          <a:ln cap="flat" cmpd="sng" w="127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6995160" y="4983480"/>
            <a:ext cx="42976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E4F5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6FE4F5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불균형을 정량적으로 튜닝 → 올바른 지표로 판단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2cf0180b9_1_35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1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f2cf0180b9_1_35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g3f2cf0180b9_1_35"/>
          <p:cNvCxnSpPr/>
          <p:nvPr/>
        </p:nvCxnSpPr>
        <p:spPr>
          <a:xfrm>
            <a:off x="10058400" y="0"/>
            <a:ext cx="0" cy="640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g3f2cf0180b9_1_35"/>
          <p:cNvCxnSpPr/>
          <p:nvPr/>
        </p:nvCxnSpPr>
        <p:spPr>
          <a:xfrm>
            <a:off x="10058400" y="640080"/>
            <a:ext cx="128010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g3f2cf0180b9_1_35"/>
          <p:cNvSpPr/>
          <p:nvPr/>
        </p:nvSpPr>
        <p:spPr>
          <a:xfrm>
            <a:off x="11301984" y="566928"/>
            <a:ext cx="146400" cy="146400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g3f2cf0180b9_1_35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" name="Google Shape;392;g3f2cf0180b9_1_35"/>
          <p:cNvCxnSpPr/>
          <p:nvPr/>
        </p:nvCxnSpPr>
        <p:spPr>
          <a:xfrm>
            <a:off x="0" y="6400800"/>
            <a:ext cx="100590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" name="Google Shape;393;g3f2cf0180b9_1_35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g3f2cf0180b9_1_35"/>
          <p:cNvSpPr/>
          <p:nvPr/>
        </p:nvSpPr>
        <p:spPr>
          <a:xfrm>
            <a:off x="932688" y="5989320"/>
            <a:ext cx="146400" cy="146400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g3f2cf0180b9_1_35"/>
          <p:cNvSpPr/>
          <p:nvPr/>
        </p:nvSpPr>
        <p:spPr>
          <a:xfrm>
            <a:off x="548640" y="502920"/>
            <a:ext cx="109800" cy="713100"/>
          </a:xfrm>
          <a:prstGeom prst="roundRect">
            <a:avLst>
              <a:gd fmla="val 41667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g3f2cf0180b9_1_35"/>
          <p:cNvSpPr/>
          <p:nvPr/>
        </p:nvSpPr>
        <p:spPr>
          <a:xfrm>
            <a:off x="777240" y="457200"/>
            <a:ext cx="1005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 </a:t>
            </a:r>
            <a:r>
              <a:rPr b="1" lang="en-US" sz="1200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 TRAINING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g3f2cf0180b9_1_35"/>
          <p:cNvSpPr/>
          <p:nvPr/>
        </p:nvSpPr>
        <p:spPr>
          <a:xfrm>
            <a:off x="758952" y="731520"/>
            <a:ext cx="10789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2900"/>
              <a:buFont typeface="Malgun Gothic"/>
              <a:buNone/>
            </a:pPr>
            <a:r>
              <a:rPr b="1" i="0" lang="en-US" sz="29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비교 — </a:t>
            </a:r>
            <a:r>
              <a:rPr b="1" lang="en-US" sz="2900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Confusion Matrix 전/후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f2cf0180b9_1_35"/>
          <p:cNvSpPr/>
          <p:nvPr/>
        </p:nvSpPr>
        <p:spPr>
          <a:xfrm>
            <a:off x="648951" y="1679170"/>
            <a:ext cx="5149500" cy="4160400"/>
          </a:xfrm>
          <a:prstGeom prst="roundRect">
            <a:avLst>
              <a:gd fmla="val 1978" name="adj"/>
            </a:avLst>
          </a:prstGeom>
          <a:solidFill>
            <a:srgbClr val="16304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3f2cf0180b9_1_35"/>
          <p:cNvSpPr/>
          <p:nvPr/>
        </p:nvSpPr>
        <p:spPr>
          <a:xfrm>
            <a:off x="6460600" y="1679175"/>
            <a:ext cx="5263200" cy="4160400"/>
          </a:xfrm>
          <a:prstGeom prst="roundRect">
            <a:avLst>
              <a:gd fmla="val 1978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m_final.png" id="400" name="Google Shape;400;g3f2cf0180b9_1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35650" y="1909737"/>
            <a:ext cx="4913101" cy="369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g3f2cf0180b9_1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7151" y="1909725"/>
            <a:ext cx="4913100" cy="3699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3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9" name="Google Shape;409;p13"/>
          <p:cNvCxnSpPr/>
          <p:nvPr/>
        </p:nvCxnSpPr>
        <p:spPr>
          <a:xfrm>
            <a:off x="10058400" y="0"/>
            <a:ext cx="0" cy="64008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13"/>
          <p:cNvCxnSpPr/>
          <p:nvPr/>
        </p:nvCxnSpPr>
        <p:spPr>
          <a:xfrm>
            <a:off x="10058400" y="640080"/>
            <a:ext cx="128016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13"/>
          <p:cNvSpPr/>
          <p:nvPr/>
        </p:nvSpPr>
        <p:spPr>
          <a:xfrm>
            <a:off x="11301984" y="566928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2" name="Google Shape;412;p13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13"/>
          <p:cNvCxnSpPr/>
          <p:nvPr/>
        </p:nvCxnSpPr>
        <p:spPr>
          <a:xfrm>
            <a:off x="0" y="6400800"/>
            <a:ext cx="100584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13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p13"/>
          <p:cNvSpPr/>
          <p:nvPr/>
        </p:nvSpPr>
        <p:spPr>
          <a:xfrm>
            <a:off x="932688" y="5989320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548640" y="502920"/>
            <a:ext cx="109728" cy="713232"/>
          </a:xfrm>
          <a:prstGeom prst="roundRect">
            <a:avLst>
              <a:gd fmla="val 41667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 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758952" y="731520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2900"/>
              <a:buFont typeface="Malgun Gothic"/>
              <a:buNone/>
            </a:pPr>
            <a:r>
              <a:rPr b="1" i="0" lang="en-US" sz="29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 평가 — Best Run (cap_none=10,000)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640080" y="1508760"/>
            <a:ext cx="3429000" cy="1600200"/>
          </a:xfrm>
          <a:prstGeom prst="roundRect">
            <a:avLst>
              <a:gd fmla="val 5143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640080" y="1627632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 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640080" y="1965960"/>
            <a:ext cx="3429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92.4%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640080" y="2724912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(참고 지표)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4297680" y="1508760"/>
            <a:ext cx="3429000" cy="1600200"/>
          </a:xfrm>
          <a:prstGeom prst="roundRect">
            <a:avLst>
              <a:gd fmla="val 5143" name="adj"/>
            </a:avLst>
          </a:prstGeom>
          <a:solidFill>
            <a:srgbClr val="13253E"/>
          </a:solidFill>
          <a:ln cap="flat" cmpd="sng" w="203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4297680" y="1627632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Macro-F1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4297680" y="1965960"/>
            <a:ext cx="3429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7D3EE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4297680" y="2724912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지표 · 클래스 공평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7955280" y="1508760"/>
            <a:ext cx="3429000" cy="1600200"/>
          </a:xfrm>
          <a:prstGeom prst="roundRect">
            <a:avLst>
              <a:gd fmla="val 5143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7955280" y="1627632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Macro-Precision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7955280" y="1965960"/>
            <a:ext cx="3429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3600"/>
              <a:buFont typeface="Malgun Gothic"/>
              <a:buNone/>
            </a:pPr>
            <a:r>
              <a:rPr b="1" i="0" lang="en-US" sz="36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7955280" y="2724912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오판(false alarm) 균형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640080" y="3291840"/>
            <a:ext cx="4160520" cy="3154680"/>
          </a:xfrm>
          <a:prstGeom prst="roundRect">
            <a:avLst>
              <a:gd fmla="val 2609" name="adj"/>
            </a:avLst>
          </a:prstGeom>
          <a:solidFill>
            <a:srgbClr val="16304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3"/>
          <p:cNvSpPr/>
          <p:nvPr/>
        </p:nvSpPr>
        <p:spPr>
          <a:xfrm>
            <a:off x="4983480" y="3291840"/>
            <a:ext cx="6537960" cy="3154680"/>
          </a:xfrm>
          <a:prstGeom prst="roundRect">
            <a:avLst>
              <a:gd fmla="val 2609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5212080" y="34290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해석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5212080" y="3840480"/>
            <a:ext cx="61264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7E5F2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정확도(92.4%)는 참고용 — 정상 비중 보정 후에도 </a:t>
            </a:r>
            <a:r>
              <a:rPr b="1" i="0" lang="en-US" sz="1250" u="none" cap="none" strike="noStrike">
                <a:solidFill>
                  <a:srgbClr val="27D3EE"/>
                </a:solidFill>
                <a:latin typeface="Malgun Gothic"/>
                <a:ea typeface="Malgun Gothic"/>
                <a:cs typeface="Malgun Gothic"/>
                <a:sym typeface="Malgun Gothic"/>
              </a:rPr>
              <a:t>Macro-F1 0.90 </a:t>
            </a: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달성</a:t>
            </a:r>
            <a:endParaRPr b="0" i="0" sz="1250" u="none" cap="none" strike="noStrike">
              <a:solidFill>
                <a:srgbClr val="D7E5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7E5F2"/>
              </a:buClr>
              <a:buSzPts val="1250"/>
              <a:buFont typeface="Malgun Gothic"/>
              <a:buChar char="→"/>
            </a:pP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Scratch·Edge-Loc의 정상(none) 누락 대폭 감소 — 불량 놓침 최소화</a:t>
            </a:r>
            <a:endParaRPr b="0" i="0" sz="1250" u="none" cap="none" strike="noStrike">
              <a:solidFill>
                <a:srgbClr val="D7E5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7E5F2"/>
              </a:buClr>
              <a:buSzPts val="1250"/>
              <a:buFont typeface="Malgun Gothic"/>
              <a:buChar char="→"/>
            </a:pP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Recall·Precision 균형(0.90/0.90)으로 false alarm도 억제</a:t>
            </a:r>
            <a:endParaRPr b="0" i="0" sz="1250" u="none" cap="none" strike="noStrike">
              <a:solidFill>
                <a:srgbClr val="D7E5F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7E5F2"/>
              </a:buClr>
              <a:buSzPts val="1250"/>
              <a:buFont typeface="Malgun Gothic"/>
              <a:buChar char="→"/>
            </a:pPr>
            <a:r>
              <a:rPr b="0" i="0" lang="en-US" sz="1250" u="none" cap="none" strike="noStrike">
                <a:solidFill>
                  <a:srgbClr val="D7E5F2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한계: Loc(recall 0.79)가 최저 — 국부 불량의 패턴 다양성 때문, 추가 데이터·고해상도로 개선 여지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5" name="Google Shape;435;p13" title="accuracy and macro_f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625" y="3392813"/>
            <a:ext cx="3781425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2cf0180b9_1_2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1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g3f2cf0180b9_1_2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3" name="Google Shape;443;g3f2cf0180b9_1_2"/>
          <p:cNvCxnSpPr/>
          <p:nvPr/>
        </p:nvCxnSpPr>
        <p:spPr>
          <a:xfrm>
            <a:off x="10058400" y="0"/>
            <a:ext cx="0" cy="640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g3f2cf0180b9_1_2"/>
          <p:cNvCxnSpPr/>
          <p:nvPr/>
        </p:nvCxnSpPr>
        <p:spPr>
          <a:xfrm>
            <a:off x="10058400" y="640080"/>
            <a:ext cx="128010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5" name="Google Shape;445;g3f2cf0180b9_1_2"/>
          <p:cNvSpPr/>
          <p:nvPr/>
        </p:nvSpPr>
        <p:spPr>
          <a:xfrm>
            <a:off x="11301984" y="566928"/>
            <a:ext cx="146400" cy="146400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6" name="Google Shape;446;g3f2cf0180b9_1_2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g3f2cf0180b9_1_2"/>
          <p:cNvCxnSpPr/>
          <p:nvPr/>
        </p:nvCxnSpPr>
        <p:spPr>
          <a:xfrm>
            <a:off x="0" y="6400800"/>
            <a:ext cx="100590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g3f2cf0180b9_1_2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9" name="Google Shape;449;g3f2cf0180b9_1_2"/>
          <p:cNvSpPr/>
          <p:nvPr/>
        </p:nvSpPr>
        <p:spPr>
          <a:xfrm>
            <a:off x="932688" y="5989320"/>
            <a:ext cx="146400" cy="146400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2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f2cf0180b9_1_2"/>
          <p:cNvSpPr/>
          <p:nvPr/>
        </p:nvSpPr>
        <p:spPr>
          <a:xfrm>
            <a:off x="548640" y="502920"/>
            <a:ext cx="109800" cy="713100"/>
          </a:xfrm>
          <a:prstGeom prst="roundRect">
            <a:avLst>
              <a:gd fmla="val 41667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f2cf0180b9_1_2"/>
          <p:cNvSpPr/>
          <p:nvPr/>
        </p:nvSpPr>
        <p:spPr>
          <a:xfrm>
            <a:off x="777240" y="457200"/>
            <a:ext cx="1005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 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f2cf0180b9_1_2"/>
          <p:cNvSpPr/>
          <p:nvPr/>
        </p:nvSpPr>
        <p:spPr>
          <a:xfrm>
            <a:off x="758952" y="731520"/>
            <a:ext cx="10789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2900"/>
              <a:buFont typeface="Malgun Gothic"/>
              <a:buNone/>
            </a:pPr>
            <a:r>
              <a:rPr b="1" i="0" lang="en-US" sz="29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성능 평가 — </a:t>
            </a:r>
            <a:r>
              <a:rPr b="1" lang="en-US" sz="2900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Training vs Validation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f2cf0180b9_1_2"/>
          <p:cNvSpPr/>
          <p:nvPr/>
        </p:nvSpPr>
        <p:spPr>
          <a:xfrm>
            <a:off x="5212080" y="34290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해석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g3f2cf0180b9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590" y="1590688"/>
            <a:ext cx="10580500" cy="395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5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5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2" name="Google Shape;462;p15"/>
          <p:cNvCxnSpPr/>
          <p:nvPr/>
        </p:nvCxnSpPr>
        <p:spPr>
          <a:xfrm>
            <a:off x="10058400" y="0"/>
            <a:ext cx="0" cy="64008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15"/>
          <p:cNvCxnSpPr/>
          <p:nvPr/>
        </p:nvCxnSpPr>
        <p:spPr>
          <a:xfrm>
            <a:off x="10058400" y="640080"/>
            <a:ext cx="128016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p15"/>
          <p:cNvSpPr/>
          <p:nvPr/>
        </p:nvSpPr>
        <p:spPr>
          <a:xfrm>
            <a:off x="11301984" y="566928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5" name="Google Shape;465;p15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15"/>
          <p:cNvCxnSpPr/>
          <p:nvPr/>
        </p:nvCxnSpPr>
        <p:spPr>
          <a:xfrm>
            <a:off x="0" y="6400800"/>
            <a:ext cx="100584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15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15"/>
          <p:cNvSpPr/>
          <p:nvPr/>
        </p:nvSpPr>
        <p:spPr>
          <a:xfrm>
            <a:off x="932688" y="5989320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548640" y="502920"/>
            <a:ext cx="109728" cy="713232"/>
          </a:xfrm>
          <a:prstGeom prst="roundRect">
            <a:avLst>
              <a:gd fmla="val 41667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  E</a:t>
            </a:r>
            <a:r>
              <a:rPr b="1" lang="en-US" sz="1200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758952" y="731520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2900"/>
              <a:buFont typeface="Malgun Gothic"/>
              <a:buNone/>
            </a:pPr>
            <a:r>
              <a:rPr b="1" i="0" lang="en-US" sz="29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Grad-CAM — 결함 판단 근거 시각화 (XAI)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dcam_clean.png" id="472" name="Google Shape;4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1554480"/>
            <a:ext cx="9555480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5"/>
          <p:cNvSpPr/>
          <p:nvPr/>
        </p:nvSpPr>
        <p:spPr>
          <a:xfrm>
            <a:off x="640080" y="6382512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따뜻한 색(노랑, 빨강)</a:t>
            </a:r>
            <a:r>
              <a:rPr b="0" i="0" lang="en-US" sz="110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진할수록 예측 기여가 큰 영역 — Scratch의 긁힌 선·Random의 분산 영역에 정확히 집중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6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1" name="Google Shape;481;p16"/>
          <p:cNvCxnSpPr/>
          <p:nvPr/>
        </p:nvCxnSpPr>
        <p:spPr>
          <a:xfrm>
            <a:off x="10058400" y="0"/>
            <a:ext cx="0" cy="64008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2" name="Google Shape;482;p16"/>
          <p:cNvCxnSpPr/>
          <p:nvPr/>
        </p:nvCxnSpPr>
        <p:spPr>
          <a:xfrm>
            <a:off x="10058400" y="640080"/>
            <a:ext cx="128016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3" name="Google Shape;483;p16"/>
          <p:cNvSpPr/>
          <p:nvPr/>
        </p:nvSpPr>
        <p:spPr>
          <a:xfrm>
            <a:off x="11301984" y="566928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4" name="Google Shape;484;p16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16"/>
          <p:cNvCxnSpPr/>
          <p:nvPr/>
        </p:nvCxnSpPr>
        <p:spPr>
          <a:xfrm>
            <a:off x="0" y="6400800"/>
            <a:ext cx="100584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6" name="Google Shape;486;p16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p16"/>
          <p:cNvSpPr/>
          <p:nvPr/>
        </p:nvSpPr>
        <p:spPr>
          <a:xfrm>
            <a:off x="932688" y="5989320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548640" y="502920"/>
            <a:ext cx="109728" cy="713232"/>
          </a:xfrm>
          <a:prstGeom prst="roundRect">
            <a:avLst>
              <a:gd fmla="val 41667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07  DEPLOY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758952" y="731520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2900"/>
              <a:buFont typeface="Malgun Gothic"/>
              <a:buNone/>
            </a:pPr>
            <a:r>
              <a:rPr b="1" i="0" lang="en-US" sz="29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시각화 및 배포 — Streamlit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204" y="1559325"/>
            <a:ext cx="10369274" cy="4425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7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7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9" name="Google Shape;499;p17"/>
          <p:cNvCxnSpPr/>
          <p:nvPr/>
        </p:nvCxnSpPr>
        <p:spPr>
          <a:xfrm>
            <a:off x="10058400" y="0"/>
            <a:ext cx="0" cy="64008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17"/>
          <p:cNvCxnSpPr/>
          <p:nvPr/>
        </p:nvCxnSpPr>
        <p:spPr>
          <a:xfrm>
            <a:off x="10058400" y="640080"/>
            <a:ext cx="128016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p17"/>
          <p:cNvSpPr/>
          <p:nvPr/>
        </p:nvSpPr>
        <p:spPr>
          <a:xfrm>
            <a:off x="11301984" y="566928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2" name="Google Shape;502;p17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17"/>
          <p:cNvCxnSpPr/>
          <p:nvPr/>
        </p:nvCxnSpPr>
        <p:spPr>
          <a:xfrm>
            <a:off x="0" y="6400800"/>
            <a:ext cx="100584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p17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5" name="Google Shape;505;p17"/>
          <p:cNvSpPr/>
          <p:nvPr/>
        </p:nvSpPr>
        <p:spPr>
          <a:xfrm>
            <a:off x="932688" y="5989320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7"/>
          <p:cNvSpPr/>
          <p:nvPr/>
        </p:nvSpPr>
        <p:spPr>
          <a:xfrm>
            <a:off x="548640" y="502920"/>
            <a:ext cx="109728" cy="713232"/>
          </a:xfrm>
          <a:prstGeom prst="roundRect">
            <a:avLst>
              <a:gd fmla="val 41667" name="adj"/>
            </a:avLst>
          </a:prstGeom>
          <a:solidFill>
            <a:srgbClr val="27D3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7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08  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758952" y="731520"/>
            <a:ext cx="107899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2900"/>
              <a:buFont typeface="Malgun Gothic"/>
              <a:buNone/>
            </a:pPr>
            <a:r>
              <a:rPr b="1" i="0" lang="en-US" sz="29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 및 제조 현장 활용 방안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640080" y="1600200"/>
            <a:ext cx="5349240" cy="1874520"/>
          </a:xfrm>
          <a:prstGeom prst="roundRect">
            <a:avLst>
              <a:gd fmla="val 439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7"/>
          <p:cNvSpPr/>
          <p:nvPr/>
        </p:nvSpPr>
        <p:spPr>
          <a:xfrm>
            <a:off x="868680" y="182880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27D3EE">
              <a:alpha val="20000"/>
            </a:srgbClr>
          </a:solidFill>
          <a:ln cap="flat" cmpd="sng" w="127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7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E4F5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6FE4F5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1508760" y="185623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Smart Manufacturing 구현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914400" y="246888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 데이터(웨이퍼맵)에 AI/ML 적용한 양산 효율화 사례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6217920" y="1600200"/>
            <a:ext cx="5349240" cy="1874520"/>
          </a:xfrm>
          <a:prstGeom prst="roundRect">
            <a:avLst>
              <a:gd fmla="val 439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7"/>
          <p:cNvSpPr/>
          <p:nvPr/>
        </p:nvSpPr>
        <p:spPr>
          <a:xfrm>
            <a:off x="6446520" y="182880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27D3EE">
              <a:alpha val="20000"/>
            </a:srgbClr>
          </a:solidFill>
          <a:ln cap="flat" cmpd="sng" w="127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7"/>
          <p:cNvSpPr/>
          <p:nvPr/>
        </p:nvSpPr>
        <p:spPr>
          <a:xfrm>
            <a:off x="6446520" y="18288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E4F5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6FE4F5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7086600" y="185623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IT × OT 융합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6492240" y="246888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공정·장비 도메인 지식 + 딥러닝 결합, 패턴→공정원인 해석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7"/>
          <p:cNvSpPr/>
          <p:nvPr/>
        </p:nvSpPr>
        <p:spPr>
          <a:xfrm>
            <a:off x="640080" y="3703320"/>
            <a:ext cx="5349240" cy="1874520"/>
          </a:xfrm>
          <a:prstGeom prst="roundRect">
            <a:avLst>
              <a:gd fmla="val 439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7"/>
          <p:cNvSpPr/>
          <p:nvPr/>
        </p:nvSpPr>
        <p:spPr>
          <a:xfrm>
            <a:off x="868680" y="393192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27D3EE">
              <a:alpha val="20000"/>
            </a:srgbClr>
          </a:solidFill>
          <a:ln cap="flat" cmpd="sng" w="127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7"/>
          <p:cNvSpPr/>
          <p:nvPr/>
        </p:nvSpPr>
        <p:spPr>
          <a:xfrm>
            <a:off x="868680" y="3931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E4F5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6FE4F5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1508760" y="395935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Work With AI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914400" y="457200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육안 검사 자동화로 반복 업무 제거·판단 지원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6217920" y="3703320"/>
            <a:ext cx="5349240" cy="1874520"/>
          </a:xfrm>
          <a:prstGeom prst="roundRect">
            <a:avLst>
              <a:gd fmla="val 4390" name="adj"/>
            </a:avLst>
          </a:prstGeom>
          <a:solidFill>
            <a:srgbClr val="13253E"/>
          </a:solidFill>
          <a:ln cap="flat" cmpd="sng" w="12700">
            <a:solidFill>
              <a:srgbClr val="21496E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7"/>
          <p:cNvSpPr/>
          <p:nvPr/>
        </p:nvSpPr>
        <p:spPr>
          <a:xfrm>
            <a:off x="6446520" y="3931920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27D3EE">
              <a:alpha val="20000"/>
            </a:srgbClr>
          </a:solidFill>
          <a:ln cap="flat" cmpd="sng" w="1270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7"/>
          <p:cNvSpPr/>
          <p:nvPr/>
        </p:nvSpPr>
        <p:spPr>
          <a:xfrm>
            <a:off x="6446520" y="3931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E4F5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6FE4F5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7086600" y="395935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Digital Twin 확장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6492240" y="457200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FDC·MES 연계 실시간 이상탐지, 가상 검증으로 발전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A2E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8"/>
          <p:cNvSpPr/>
          <p:nvPr/>
        </p:nvSpPr>
        <p:spPr>
          <a:xfrm>
            <a:off x="-1828800" y="-2743200"/>
            <a:ext cx="6400800" cy="6400800"/>
          </a:xfrm>
          <a:prstGeom prst="ellipse">
            <a:avLst/>
          </a:prstGeom>
          <a:solidFill>
            <a:srgbClr val="0E2138">
              <a:alpha val="4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8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0E2138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6" name="Google Shape;536;p18"/>
          <p:cNvCxnSpPr/>
          <p:nvPr/>
        </p:nvCxnSpPr>
        <p:spPr>
          <a:xfrm>
            <a:off x="10058400" y="0"/>
            <a:ext cx="0" cy="64008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7" name="Google Shape;537;p18"/>
          <p:cNvCxnSpPr/>
          <p:nvPr/>
        </p:nvCxnSpPr>
        <p:spPr>
          <a:xfrm>
            <a:off x="10058400" y="640080"/>
            <a:ext cx="128016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8" name="Google Shape;538;p18"/>
          <p:cNvSpPr/>
          <p:nvPr/>
        </p:nvSpPr>
        <p:spPr>
          <a:xfrm>
            <a:off x="11301984" y="566928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9" name="Google Shape;539;p18"/>
          <p:cNvCxnSpPr/>
          <p:nvPr/>
        </p:nvCxnSpPr>
        <p:spPr>
          <a:xfrm>
            <a:off x="11155680" y="228600"/>
            <a:ext cx="0" cy="9144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0" name="Google Shape;540;p18"/>
          <p:cNvCxnSpPr/>
          <p:nvPr/>
        </p:nvCxnSpPr>
        <p:spPr>
          <a:xfrm>
            <a:off x="0" y="6400800"/>
            <a:ext cx="1005840" cy="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1" name="Google Shape;541;p18"/>
          <p:cNvCxnSpPr/>
          <p:nvPr/>
        </p:nvCxnSpPr>
        <p:spPr>
          <a:xfrm>
            <a:off x="1005840" y="640080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27D3EE">
                <a:alpha val="2784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18"/>
          <p:cNvSpPr/>
          <p:nvPr/>
        </p:nvSpPr>
        <p:spPr>
          <a:xfrm>
            <a:off x="932688" y="5989320"/>
            <a:ext cx="146304" cy="146304"/>
          </a:xfrm>
          <a:prstGeom prst="ellipse">
            <a:avLst/>
          </a:prstGeom>
          <a:solidFill>
            <a:srgbClr val="27D3EE">
              <a:alpha val="60000"/>
            </a:srgbClr>
          </a:solidFill>
          <a:ln cap="flat" cmpd="sng" w="9525">
            <a:solidFill>
              <a:srgbClr val="27D3E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hero.png" id="543" name="Google Shape;5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3566160"/>
            <a:ext cx="3291840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18"/>
          <p:cNvSpPr/>
          <p:nvPr/>
        </p:nvSpPr>
        <p:spPr>
          <a:xfrm>
            <a:off x="777240" y="2377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6E0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3FB6E0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THANK YOU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749808" y="283464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AFF"/>
              </a:buClr>
              <a:buSzPts val="4600"/>
              <a:buFont typeface="Malgun Gothic"/>
              <a:buNone/>
            </a:pPr>
            <a:r>
              <a:rPr b="1" i="0" lang="en-US" sz="4600" u="none" cap="none" strike="noStrike">
                <a:solidFill>
                  <a:srgbClr val="F5FA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p18"/>
          <p:cNvCxnSpPr/>
          <p:nvPr/>
        </p:nvCxnSpPr>
        <p:spPr>
          <a:xfrm>
            <a:off x="822960" y="3977640"/>
            <a:ext cx="1828800" cy="0"/>
          </a:xfrm>
          <a:prstGeom prst="straightConnector1">
            <a:avLst/>
          </a:prstGeom>
          <a:noFill/>
          <a:ln cap="flat" cmpd="sng" w="31750">
            <a:solidFill>
              <a:srgbClr val="27D3E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7" name="Google Shape;547;p18"/>
          <p:cNvSpPr/>
          <p:nvPr/>
        </p:nvSpPr>
        <p:spPr>
          <a:xfrm>
            <a:off x="777240" y="41605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CE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9FB6C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기반 반도체 웨이퍼 결함 패턴 분류 · Smart Manufacturing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8"/>
          <p:cNvSpPr/>
          <p:nvPr/>
        </p:nvSpPr>
        <p:spPr>
          <a:xfrm>
            <a:off x="777240" y="544068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FE4F5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6FE4F5"/>
                </a:solidFill>
                <a:latin typeface="Malgun Gothic"/>
                <a:ea typeface="Malgun Gothic"/>
                <a:cs typeface="Malgun Gothic"/>
                <a:sym typeface="Malgun Gothic"/>
              </a:rPr>
              <a:t>CNN · Conv2D · MaxPooling · Dropout · Dense · Focal Loss</a:t>
            </a:r>
            <a:endParaRPr b="1" i="0" sz="1350" u="none" cap="none" strike="noStrike">
              <a:solidFill>
                <a:srgbClr val="6FE4F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869E"/>
              </a:buClr>
              <a:buSzPts val="1350"/>
              <a:buFont typeface="Malgun Gothic"/>
              <a:buNone/>
            </a:pPr>
            <a:r>
              <a:rPr b="0" i="0" lang="en-US" sz="1350" u="none" cap="none" strike="noStrike">
                <a:solidFill>
                  <a:srgbClr val="6E869E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 · Smart Manufacturing · MLflow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한컴오피스">
  <a:themeElements>
    <a:clrScheme name="한컴오피스">
      <a:dk1>
        <a:srgbClr val="000000"/>
      </a:dk1>
      <a:lt1>
        <a:srgbClr val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2026-06-30T02:54:09.000</dcterms:created>
  <dc:creator>EJ</dc:creator>
</cp:coreProperties>
</file>