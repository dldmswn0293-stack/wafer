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57">
          <p15:clr>
            <a:srgbClr val="000000"/>
          </p15:clr>
        </p15:guide>
        <p15:guide id="2" pos="3839">
          <p15:clr>
            <a:srgbClr val="000000"/>
          </p15:clr>
        </p15:guide>
      </p15:sldGuideLst>
    </p:ext>
    <p:ext uri="GoogleSlidesCustomDataVersion2">
      <go:slidesCustomData xmlns:go="http://customooxmlschemas.google.com/" r:id="rId24" roundtripDataSignature="AMtx7mh7Ag22kdjw6H+HhsLZjl+CZo89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57" orient="horz"/>
        <p:guide pos="3839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" name="Google Shape;3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f2cf0180b9_1_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g3f2cf0180b9_1_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f2cf0180b9_1_3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f2cf0180b9_1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g3f2cf0180b9_1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g3f2cf0180b9_1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4" name="Google Shape;494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f2dbbdcfe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1" name="Google Shape;531;g3f2dbbdcfe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g3f2dbbdcfeb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1" name="Google Shape;56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0" Type="http://schemas.openxmlformats.org/officeDocument/2006/relationships/image" Target="../media/image11.png"/><Relationship Id="rId9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7.png"/><Relationship Id="rId7" Type="http://schemas.openxmlformats.org/officeDocument/2006/relationships/image" Target="../media/image13.png"/><Relationship Id="rId8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" name="Google Shape;19;p1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" name="Google Shape;20;p1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" name="Google Shape;21;p1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" name="Google Shape;22;p1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1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1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hero.png" id="25" name="Google Shape;2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40880" y="1371600"/>
            <a:ext cx="4206240" cy="420624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1"/>
          <p:cNvSpPr/>
          <p:nvPr/>
        </p:nvSpPr>
        <p:spPr>
          <a:xfrm>
            <a:off x="7315200" y="1645920"/>
            <a:ext cx="3657600" cy="3657600"/>
          </a:xfrm>
          <a:prstGeom prst="ellipse">
            <a:avLst/>
          </a:prstGeom>
          <a:solidFill>
            <a:srgbClr val="27D3EE">
              <a:alpha val="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77240" y="137160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SEMICONDUCTOR AI PROJECT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" name="Google Shape;28;p1"/>
          <p:cNvCxnSpPr/>
          <p:nvPr/>
        </p:nvCxnSpPr>
        <p:spPr>
          <a:xfrm>
            <a:off x="822960" y="1874520"/>
            <a:ext cx="1463040" cy="0"/>
          </a:xfrm>
          <a:prstGeom prst="straightConnector1">
            <a:avLst/>
          </a:prstGeom>
          <a:noFill/>
          <a:ln cap="flat" cmpd="sng" w="3175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1"/>
          <p:cNvSpPr/>
          <p:nvPr/>
        </p:nvSpPr>
        <p:spPr>
          <a:xfrm>
            <a:off x="749808" y="2057400"/>
            <a:ext cx="6583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3800"/>
              <a:buFont typeface="Malgun Gothic"/>
              <a:buNone/>
            </a:pPr>
            <a:r>
              <a:rPr b="1" i="0" lang="en-US" sz="38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기반 반도체 웨이퍼</a:t>
            </a:r>
            <a:endParaRPr b="1" i="0" sz="380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3800"/>
              <a:buFont typeface="Malgun Gothic"/>
              <a:buNone/>
            </a:pPr>
            <a:r>
              <a:rPr b="1" i="0" lang="en-US" sz="38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결함 패턴 분류 모델</a:t>
            </a:r>
            <a:endParaRPr b="1" i="0" sz="380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3800"/>
              <a:buFont typeface="Malgun Gothic"/>
              <a:buNone/>
            </a:pPr>
            <a:r>
              <a:rPr b="1" i="0" lang="en-US" sz="38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및 시각화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777240" y="4297680"/>
            <a:ext cx="6217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5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반도체 양산 공정 효율화를 위한 CNN 기반</a:t>
            </a:r>
            <a:endParaRPr b="0" i="0" sz="1500" u="none" cap="none" strike="noStrike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5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웨이퍼맵 결함 패턴 자동 분류 프로젝트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Google Shape;31;p1"/>
          <p:cNvCxnSpPr/>
          <p:nvPr/>
        </p:nvCxnSpPr>
        <p:spPr>
          <a:xfrm>
            <a:off x="822960" y="5257800"/>
            <a:ext cx="1463040" cy="0"/>
          </a:xfrm>
          <a:prstGeom prst="straightConnector1">
            <a:avLst/>
          </a:prstGeom>
          <a:noFill/>
          <a:ln cap="flat" cmpd="sng" w="19050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1"/>
          <p:cNvSpPr/>
          <p:nvPr/>
        </p:nvSpPr>
        <p:spPr>
          <a:xfrm>
            <a:off x="777240" y="5440680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이은주</a:t>
            </a:r>
            <a:endParaRPr b="1" i="0" sz="1350" u="none" cap="none" strike="noStrike">
              <a:solidFill>
                <a:srgbClr val="6FE4F5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3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2026.07.01</a:t>
            </a:r>
            <a:endParaRPr b="0" i="0" sz="1350" u="none" cap="none" strike="noStrike">
              <a:solidFill>
                <a:srgbClr val="6E869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2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" name="Google Shape;41;p2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2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3" name="Google Shape;43;p2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4" name="Google Shape;44;p2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" name="Google Shape;45;p2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2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 — 모델링 파이프라인 순서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640080" y="1600200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822960" y="1600200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2" name="Google Shape;52;p2"/>
          <p:cNvCxnSpPr/>
          <p:nvPr/>
        </p:nvCxnSpPr>
        <p:spPr>
          <a:xfrm>
            <a:off x="1691640" y="1801368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" name="Google Shape;53;p2"/>
          <p:cNvSpPr/>
          <p:nvPr/>
        </p:nvSpPr>
        <p:spPr>
          <a:xfrm>
            <a:off x="1874520" y="1746504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개요 · 문제 정의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1874520" y="213055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Why Automated Classification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309360" y="1600200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6492240" y="1600200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" name="Google Shape;57;p2"/>
          <p:cNvCxnSpPr/>
          <p:nvPr/>
        </p:nvCxnSpPr>
        <p:spPr>
          <a:xfrm>
            <a:off x="7360920" y="1801368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2"/>
          <p:cNvSpPr/>
          <p:nvPr/>
        </p:nvSpPr>
        <p:spPr>
          <a:xfrm>
            <a:off x="7543800" y="1746504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데이터셋 · 결함 패턴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7543800" y="213055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WM-811K Wafer Map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640080" y="2770632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822960" y="2770632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2" name="Google Shape;62;p2"/>
          <p:cNvCxnSpPr/>
          <p:nvPr/>
        </p:nvCxnSpPr>
        <p:spPr>
          <a:xfrm>
            <a:off x="1691640" y="2971800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2"/>
          <p:cNvSpPr/>
          <p:nvPr/>
        </p:nvSpPr>
        <p:spPr>
          <a:xfrm>
            <a:off x="1874520" y="2916936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전처리 · EDA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1874520" y="3300984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Imbalance · Resize · Encoding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6309360" y="2770632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/>
          <p:nvPr/>
        </p:nvSpPr>
        <p:spPr>
          <a:xfrm>
            <a:off x="6492240" y="2770632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" name="Google Shape;67;p2"/>
          <p:cNvCxnSpPr/>
          <p:nvPr/>
        </p:nvCxnSpPr>
        <p:spPr>
          <a:xfrm>
            <a:off x="7360920" y="2971800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p2"/>
          <p:cNvSpPr/>
          <p:nvPr/>
        </p:nvSpPr>
        <p:spPr>
          <a:xfrm>
            <a:off x="7543800" y="2916936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CNN 모델 설계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7543800" y="3300984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Conv2D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640080" y="3941064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822960" y="3941064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" name="Google Shape;72;p2"/>
          <p:cNvCxnSpPr/>
          <p:nvPr/>
        </p:nvCxnSpPr>
        <p:spPr>
          <a:xfrm>
            <a:off x="1691640" y="4142232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2"/>
          <p:cNvSpPr/>
          <p:nvPr/>
        </p:nvSpPr>
        <p:spPr>
          <a:xfrm>
            <a:off x="1874520" y="4087368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 · 실험 관리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1874520" y="4471416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Focal Loss · EarlyStopping · MLflow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6309360" y="3941064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"/>
          <p:cNvSpPr/>
          <p:nvPr/>
        </p:nvSpPr>
        <p:spPr>
          <a:xfrm>
            <a:off x="6492240" y="3941064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2"/>
          <p:cNvCxnSpPr/>
          <p:nvPr/>
        </p:nvCxnSpPr>
        <p:spPr>
          <a:xfrm>
            <a:off x="7360920" y="4142232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2"/>
          <p:cNvSpPr/>
          <p:nvPr/>
        </p:nvSpPr>
        <p:spPr>
          <a:xfrm>
            <a:off x="7543800" y="4087368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 평가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7543800" y="4471416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Accuracy · Macro-F1 · Recall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640080" y="5111496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2"/>
          <p:cNvSpPr/>
          <p:nvPr/>
        </p:nvSpPr>
        <p:spPr>
          <a:xfrm>
            <a:off x="822960" y="5111496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2" name="Google Shape;82;p2"/>
          <p:cNvCxnSpPr/>
          <p:nvPr/>
        </p:nvCxnSpPr>
        <p:spPr>
          <a:xfrm>
            <a:off x="1691640" y="5312664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2"/>
          <p:cNvSpPr/>
          <p:nvPr/>
        </p:nvSpPr>
        <p:spPr>
          <a:xfrm>
            <a:off x="1874520" y="525780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 시각화 · 배포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1874520" y="5641848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 App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6309360" y="5111496"/>
            <a:ext cx="5440680" cy="987552"/>
          </a:xfrm>
          <a:prstGeom prst="roundRect">
            <a:avLst>
              <a:gd fmla="val 833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2"/>
          <p:cNvSpPr/>
          <p:nvPr/>
        </p:nvSpPr>
        <p:spPr>
          <a:xfrm>
            <a:off x="6492240" y="5111496"/>
            <a:ext cx="82296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08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7" name="Google Shape;87;p2"/>
          <p:cNvCxnSpPr/>
          <p:nvPr/>
        </p:nvCxnSpPr>
        <p:spPr>
          <a:xfrm>
            <a:off x="7360920" y="5312664"/>
            <a:ext cx="0" cy="585216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8" name="Google Shape;88;p2"/>
          <p:cNvSpPr/>
          <p:nvPr/>
        </p:nvSpPr>
        <p:spPr>
          <a:xfrm>
            <a:off x="7543800" y="525780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결론 · 활용 방안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7543800" y="5641848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Smart Manufacturing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7" name="Google Shape;97;p3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3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3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0" name="Google Shape;100;p3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1" name="Google Shape;101;p3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2" name="Google Shape;102;p3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" name="Google Shape;103;p3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PROBLEM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정의 및 자동 분류의 필요성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기존 방식의 한계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640080" y="1920240"/>
            <a:ext cx="4937760" cy="1143000"/>
          </a:xfrm>
          <a:prstGeom prst="roundRect">
            <a:avLst>
              <a:gd fmla="val 72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640080" y="1920240"/>
            <a:ext cx="91440" cy="1143000"/>
          </a:xfrm>
          <a:prstGeom prst="roundRect">
            <a:avLst>
              <a:gd fmla="val 30000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914400" y="2084832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 판독 시간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914400" y="2487168"/>
            <a:ext cx="4480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웨이퍼 수량 증가에 따라 육안 검토 시간이 선형적으로 증가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640080" y="3246120"/>
            <a:ext cx="4937760" cy="1143000"/>
          </a:xfrm>
          <a:prstGeom prst="roundRect">
            <a:avLst>
              <a:gd fmla="val 72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40080" y="3246120"/>
            <a:ext cx="91440" cy="1143000"/>
          </a:xfrm>
          <a:prstGeom prst="roundRect">
            <a:avLst>
              <a:gd fmla="val 30000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914400" y="3410712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주관적 판단 기준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914400" y="3813048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담당 엔지니어 경험·숙련도에 따라 분류 결과가 달라질 수 있음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40080" y="4572000"/>
            <a:ext cx="4937760" cy="1143000"/>
          </a:xfrm>
          <a:prstGeom prst="roundRect">
            <a:avLst>
              <a:gd fmla="val 72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640080" y="4572000"/>
            <a:ext cx="91440" cy="1143000"/>
          </a:xfrm>
          <a:prstGeom prst="roundRect">
            <a:avLst>
              <a:gd fmla="val 30000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914400" y="4736592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조기 감지 지연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914400" y="5138928"/>
            <a:ext cx="4480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이상 패턴 인지가 늦어지면 수율 손실·품질 이슈가 확대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5989320" y="1920240"/>
            <a:ext cx="5532120" cy="3931920"/>
          </a:xfrm>
          <a:prstGeom prst="roundRect">
            <a:avLst>
              <a:gd fmla="val 2093" name="adj"/>
            </a:avLst>
          </a:prstGeom>
          <a:solidFill>
            <a:srgbClr val="16304E"/>
          </a:solidFill>
          <a:ln cap="flat" cmpd="sng" w="203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w_Center.png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8160" y="21488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/>
          <p:nvPr/>
        </p:nvSpPr>
        <p:spPr>
          <a:xfrm>
            <a:off x="6172200" y="342900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CNN 기반 웨이퍼맵 자동 분류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6400800" y="4023360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350"/>
              <a:buFont typeface="Malgun Gothic"/>
              <a:buChar char="→"/>
            </a:pPr>
            <a:r>
              <a:rPr b="0" i="0" lang="en-US" sz="13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공간 패턴의 일관된 기계적 학습 및 분류</a:t>
            </a:r>
            <a:endParaRPr b="0" i="0" sz="13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350"/>
              <a:buFont typeface="Malgun Gothic"/>
              <a:buChar char="→"/>
            </a:pPr>
            <a:r>
              <a:rPr b="0" i="0" lang="en-US" sz="13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엔지니어 판독 의존도 감소 · 업무 집중도 향상</a:t>
            </a:r>
            <a:endParaRPr b="0" i="0" sz="13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350"/>
              <a:buFont typeface="Malgun Gothic"/>
              <a:buChar char="→"/>
            </a:pPr>
            <a:r>
              <a:rPr b="0" i="0" lang="en-US" sz="13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 이상 조기 신호 포착으로 수율 보호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7844790" y="5349240"/>
            <a:ext cx="1943452" cy="384048"/>
          </a:xfrm>
          <a:prstGeom prst="roundRect">
            <a:avLst>
              <a:gd fmla="val 47619" name="adj"/>
            </a:avLst>
          </a:prstGeom>
          <a:solidFill>
            <a:srgbClr val="27D3EE">
              <a:alpha val="2196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863840" y="5349240"/>
            <a:ext cx="19434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8가지 결함 패턴 자동 인식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3" name="Google Shape;133;p4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4" name="Google Shape;134;p4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5" name="Google Shape;135;p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6" name="Google Shape;136;p4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7" name="Google Shape;137;p4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8" name="Google Shape;138;p4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4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DATASET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웨이퍼맵 결함 패턴 개요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WM-811K — 실제 FAB 웨이퍼맵 · 8가지 주요 결함 클래스 (공간 패턴 = 공정 이상 신호)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640080" y="182880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Center.png" id="145" name="Google Shape;14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17320" y="199339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4"/>
          <p:cNvSpPr/>
          <p:nvPr/>
        </p:nvSpPr>
        <p:spPr>
          <a:xfrm>
            <a:off x="640080" y="306324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Center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77240" y="341985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중앙 공정 조건 / 온도 균일도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3429000" y="182880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Donut.png" id="149" name="Google Shape;14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06240" y="199339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4"/>
          <p:cNvSpPr/>
          <p:nvPr/>
        </p:nvSpPr>
        <p:spPr>
          <a:xfrm>
            <a:off x="3429000" y="306324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Donut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3566160" y="341985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반경 방향 공정 균일도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6217920" y="182880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Edge-Ring.png" id="153" name="Google Shape;153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95160" y="199339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4"/>
          <p:cNvSpPr/>
          <p:nvPr/>
        </p:nvSpPr>
        <p:spPr>
          <a:xfrm>
            <a:off x="6217920" y="306324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Edge-Ring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6355080" y="341985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엣지 공정 조건 / 핸들링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9006840" y="182880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Edge-Loc.png" id="157" name="Google Shape;15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784080" y="199339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/>
          <p:nvPr/>
        </p:nvSpPr>
        <p:spPr>
          <a:xfrm>
            <a:off x="9006840" y="306324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Edge-Loc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9144000" y="341985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국부 장비 접촉 / 포지셔닝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640080" y="406908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Scratch.png" id="161" name="Google Shape;161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17320" y="423367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4"/>
          <p:cNvSpPr/>
          <p:nvPr/>
        </p:nvSpPr>
        <p:spPr>
          <a:xfrm>
            <a:off x="640080" y="530352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Scratch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777240" y="566013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물리적 스크래치 / 이송 접촉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3429000" y="406908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Loc.png" id="165" name="Google Shape;165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206240" y="423367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4"/>
          <p:cNvSpPr/>
          <p:nvPr/>
        </p:nvSpPr>
        <p:spPr>
          <a:xfrm>
            <a:off x="3429000" y="530352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Loc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3566160" y="566013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파티클 / 국부 공정 편차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6217920" y="406908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Near-full.png" id="169" name="Google Shape;169;p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995160" y="423367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4"/>
          <p:cNvSpPr/>
          <p:nvPr/>
        </p:nvSpPr>
        <p:spPr>
          <a:xfrm>
            <a:off x="6217920" y="530352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Near-full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6355080" y="566013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전역 공정 실패 / 레시피 오류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9006840" y="4069080"/>
            <a:ext cx="2606040" cy="2057400"/>
          </a:xfrm>
          <a:prstGeom prst="roundRect">
            <a:avLst>
              <a:gd fmla="val 4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ssets/w_Random.png" id="173" name="Google Shape;173;p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784080" y="423367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4"/>
          <p:cNvSpPr/>
          <p:nvPr/>
        </p:nvSpPr>
        <p:spPr>
          <a:xfrm>
            <a:off x="9006840" y="530352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Random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9144000" y="566013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노이즈성 불량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5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4" name="Google Shape;184;p5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5" name="Google Shape;185;p5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6" name="Google Shape;186;p5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7" name="Google Shape;187;p5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8" name="Google Shape;188;p5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9" name="Google Shape;189;p5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PREPROCESSING</a:t>
            </a:r>
            <a:endParaRPr b="1" i="0" sz="1200" u="none" cap="none" strike="noStrike">
              <a:solidFill>
                <a:srgbClr val="3FB6E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전처리 및 EDA</a:t>
            </a:r>
            <a:endParaRPr b="1" i="0" sz="290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클래스별 샘플 웨이퍼맵 시각화</a:t>
            </a:r>
            <a:endParaRPr b="0" i="0" sz="1300" u="none" cap="none" strike="noStrike">
              <a:solidFill>
                <a:srgbClr val="3FB6E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94" name="Google Shape;19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54933" y="1691640"/>
            <a:ext cx="7681828" cy="4548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2" name="Google Shape;202;p6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" name="Google Shape;204;p6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5" name="Google Shape;205;p6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7" name="Google Shape;207;p6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6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PREPROCESSING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전처리 및 EDA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640080" y="1508760"/>
            <a:ext cx="5212080" cy="4206240"/>
          </a:xfrm>
          <a:prstGeom prst="roundRect">
            <a:avLst>
              <a:gd fmla="val 1957" name="adj"/>
            </a:avLst>
          </a:prstGeom>
          <a:solidFill>
            <a:srgbClr val="16304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868680" y="16916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이슈 — 클래스 불균형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868680" y="2025015"/>
            <a:ext cx="4846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정상(none) </a:t>
            </a:r>
            <a:r>
              <a:rPr b="1" i="0" lang="en-US" sz="14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 </a:t>
            </a:r>
            <a:r>
              <a:rPr b="1" i="0" lang="en-US" sz="1400" u="none" cap="none" strike="noStrike">
                <a:solidFill>
                  <a:srgbClr val="39BBE7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r>
              <a:rPr b="1" i="0" lang="en-US" sz="14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6%</a:t>
            </a:r>
            <a:endParaRPr b="1" i="0" sz="1400" u="none" cap="none" strike="noStrike">
              <a:solidFill>
                <a:srgbClr val="27D3EE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결함 8종 합계 </a:t>
            </a:r>
            <a:r>
              <a:rPr b="1" i="0" lang="en-US" sz="14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 14%</a:t>
            </a:r>
            <a:endParaRPr b="1" i="0" sz="1400" u="none" cap="none" strike="noStrike">
              <a:solidFill>
                <a:srgbClr val="27D3EE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400"/>
              <a:buFont typeface="Malgun Gothic"/>
              <a:buNone/>
            </a:pPr>
            <a:r>
              <a:rPr b="0" i="0" lang="en-US" sz="14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정확도(accuracy)만으로는 </a:t>
            </a:r>
            <a:r>
              <a:rPr b="1" i="0" lang="en-US" sz="14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 왜곡</a:t>
            </a:r>
            <a:endParaRPr b="1" i="0" sz="1400" u="none" cap="none" strike="noStrike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15" name="Google Shape;215;p6"/>
          <p:cNvCxnSpPr/>
          <p:nvPr/>
        </p:nvCxnSpPr>
        <p:spPr>
          <a:xfrm>
            <a:off x="868680" y="3383280"/>
            <a:ext cx="4754880" cy="0"/>
          </a:xfrm>
          <a:prstGeom prst="straightConnector1">
            <a:avLst/>
          </a:prstGeom>
          <a:noFill/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" name="Google Shape;216;p6"/>
          <p:cNvSpPr/>
          <p:nvPr/>
        </p:nvSpPr>
        <p:spPr>
          <a:xfrm>
            <a:off x="6080760" y="1508760"/>
            <a:ext cx="5440680" cy="4206240"/>
          </a:xfrm>
          <a:prstGeom prst="roundRect">
            <a:avLst>
              <a:gd fmla="val 1957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6309360" y="16916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대응 전략</a:t>
            </a:r>
            <a:endParaRPr b="1" i="0" sz="1600" u="none" cap="none" strike="noStrike">
              <a:solidFill>
                <a:srgbClr val="3FB6E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6309360" y="219456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None/>
            </a:pPr>
            <a:r>
              <a:t/>
            </a:r>
            <a:endParaRPr b="1" i="0" sz="1700" u="none" cap="none" strike="noStrike">
              <a:solidFill>
                <a:srgbClr val="27D3E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19" name="Google Shape;2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1688" y="3520440"/>
            <a:ext cx="4108863" cy="2028426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6"/>
          <p:cNvSpPr/>
          <p:nvPr/>
        </p:nvSpPr>
        <p:spPr>
          <a:xfrm>
            <a:off x="6309360" y="1889760"/>
            <a:ext cx="50653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 미검토(</a:t>
            </a:r>
            <a:r>
              <a:rPr b="1" i="0" lang="en-US" sz="1250" u="none" cap="none" strike="noStrike">
                <a:solidFill>
                  <a:srgbClr val="39BBE7"/>
                </a:solidFill>
                <a:latin typeface="Malgun Gothic"/>
                <a:ea typeface="Malgun Gothic"/>
                <a:cs typeface="Malgun Gothic"/>
                <a:sym typeface="Malgun Gothic"/>
              </a:rPr>
              <a:t>unlabeled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b="1" i="0" lang="en-US" sz="1250" u="none" cap="none" strike="noStrike">
                <a:solidFill>
                  <a:srgbClr val="39BBE7"/>
                </a:solidFill>
                <a:latin typeface="Malgun Gothic"/>
                <a:ea typeface="Malgun Gothic"/>
                <a:cs typeface="Malgun Gothic"/>
                <a:sym typeface="Malgun Gothic"/>
              </a:rPr>
              <a:t>행 제외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'정상'과 구분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CAP_NONE — </a:t>
            </a:r>
            <a:r>
              <a:rPr b="1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 클래스 </a:t>
            </a:r>
            <a:r>
              <a:rPr b="1" i="0" lang="en-US" sz="1250" u="none" cap="none" strike="noStrike">
                <a:solidFill>
                  <a:srgbClr val="39BBE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20000으로 상한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, 결함은 전부 유지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9BBE7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9BBE7"/>
                </a:solidFill>
                <a:latin typeface="Malgun Gothic"/>
                <a:ea typeface="Malgun Gothic"/>
                <a:cs typeface="Malgun Gothic"/>
                <a:sym typeface="Malgun Gothic"/>
              </a:rPr>
              <a:t>Focal Loss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 불균형 보정 (학습 단계) — </a:t>
            </a:r>
            <a:r>
              <a:rPr b="1" i="0" lang="en-US" sz="1250" u="none" cap="none" strike="noStrike">
                <a:solidFill>
                  <a:srgbClr val="39BBE7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GAMMA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 값 2.0 -&gt; </a:t>
            </a:r>
            <a:r>
              <a:rPr b="1" i="0" lang="en-US" sz="1250" u="none" cap="none" strike="noStrike">
                <a:solidFill>
                  <a:srgbClr val="39BBE7"/>
                </a:solidFill>
                <a:latin typeface="Malgun Gothic"/>
                <a:ea typeface="Malgun Gothic"/>
                <a:cs typeface="Malgun Gothic"/>
                <a:sym typeface="Malgun Gothic"/>
              </a:rPr>
              <a:t>3.0</a:t>
            </a:r>
            <a:endParaRPr b="1" i="0" sz="1250" u="none" cap="none" strike="noStrike">
              <a:solidFill>
                <a:srgbClr val="39BBE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21" name="Google Shape;22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87627" y="3520440"/>
            <a:ext cx="4108862" cy="2028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7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9" name="Google Shape;229;p7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0" name="Google Shape;230;p7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7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2" name="Google Shape;232;p7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3" name="Google Shape;233;p7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4" name="Google Shape;234;p7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5" name="Google Shape;235;p7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PREPROCESSING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전처리 및 EDA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640080" y="1508760"/>
            <a:ext cx="5212080" cy="4206240"/>
          </a:xfrm>
          <a:prstGeom prst="roundRect">
            <a:avLst>
              <a:gd fmla="val 1957" name="adj"/>
            </a:avLst>
          </a:prstGeom>
          <a:solidFill>
            <a:srgbClr val="16304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6080760" y="1508760"/>
            <a:ext cx="5440680" cy="4206240"/>
          </a:xfrm>
          <a:prstGeom prst="roundRect">
            <a:avLst>
              <a:gd fmla="val 1957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6309360" y="16916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전처리 파이프라인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6309360" y="219456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6309360" y="219456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/>
          <p:nvPr/>
        </p:nvSpPr>
        <p:spPr>
          <a:xfrm>
            <a:off x="6995160" y="2176272"/>
            <a:ext cx="4389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웨이퍼맵 리사이즈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6995160" y="2505456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가변 크기 → 128×128 (최근접 보간, 0/1/2 값 보존)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6309360" y="3044952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6309360" y="3044952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6995160" y="3026664"/>
            <a:ext cx="4389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정규화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6995160" y="3355848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Rescaling(1/2) — 0/1/2 값을 0~1 범위로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6309360" y="3895344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6309360" y="3895344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6995160" y="3877056"/>
            <a:ext cx="4389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 인코딩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6995160" y="4206240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LabelEncoder → one-hot (Focal Loss용)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6309360" y="4745736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6309360" y="4745736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6995160" y="4727448"/>
            <a:ext cx="4389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학습/테스트 분리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995160" y="5056632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train_test_split · stratify로 클래스 비율 유지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5857" y="3164966"/>
            <a:ext cx="4200525" cy="225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9030" y="1721230"/>
            <a:ext cx="4714179" cy="11499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8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7" name="Google Shape;267;p8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8" name="Google Shape;268;p8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9" name="Google Shape;269;p8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0" name="Google Shape;270;p8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1" name="Google Shape;271;p8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2" name="Google Shape;272;p8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3" name="Google Shape;273;p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MODEL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CNN 모델 설계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640080" y="1828800"/>
            <a:ext cx="1371600" cy="1325880"/>
          </a:xfrm>
          <a:prstGeom prst="roundRect">
            <a:avLst>
              <a:gd fmla="val 5517" name="adj"/>
            </a:avLst>
          </a:prstGeom>
          <a:solidFill>
            <a:srgbClr val="13253E"/>
          </a:solidFill>
          <a:ln cap="flat" cmpd="sng" w="165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640080" y="182880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Input</a:t>
            </a:r>
            <a:endParaRPr b="1" i="0" sz="120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128×128×1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9" name="Google Shape;279;p8"/>
          <p:cNvCxnSpPr/>
          <p:nvPr/>
        </p:nvCxnSpPr>
        <p:spPr>
          <a:xfrm>
            <a:off x="2020824" y="2487168"/>
            <a:ext cx="201168" cy="0"/>
          </a:xfrm>
          <a:prstGeom prst="straightConnector1">
            <a:avLst/>
          </a:prstGeom>
          <a:noFill/>
          <a:ln cap="flat" cmpd="sng" w="19050">
            <a:solidFill>
              <a:srgbClr val="27D3E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0" name="Google Shape;280;p8"/>
          <p:cNvSpPr/>
          <p:nvPr/>
        </p:nvSpPr>
        <p:spPr>
          <a:xfrm>
            <a:off x="2231136" y="1828800"/>
            <a:ext cx="1371600" cy="1325880"/>
          </a:xfrm>
          <a:prstGeom prst="roundRect">
            <a:avLst>
              <a:gd fmla="val 5517" name="adj"/>
            </a:avLst>
          </a:prstGeom>
          <a:solidFill>
            <a:srgbClr val="13253E"/>
          </a:solidFill>
          <a:ln cap="flat" cmpd="sng" w="165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2231136" y="182880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Conv2D 16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2" name="Google Shape;282;p8"/>
          <p:cNvCxnSpPr/>
          <p:nvPr/>
        </p:nvCxnSpPr>
        <p:spPr>
          <a:xfrm>
            <a:off x="3611880" y="2487168"/>
            <a:ext cx="201168" cy="0"/>
          </a:xfrm>
          <a:prstGeom prst="straightConnector1">
            <a:avLst/>
          </a:prstGeom>
          <a:noFill/>
          <a:ln cap="flat" cmpd="sng" w="19050">
            <a:solidFill>
              <a:srgbClr val="27D3E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3" name="Google Shape;283;p8"/>
          <p:cNvSpPr/>
          <p:nvPr/>
        </p:nvSpPr>
        <p:spPr>
          <a:xfrm>
            <a:off x="2231136" y="32004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+MaxPool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3822192" y="1828800"/>
            <a:ext cx="1371600" cy="1325880"/>
          </a:xfrm>
          <a:prstGeom prst="roundRect">
            <a:avLst>
              <a:gd fmla="val 5517" name="adj"/>
            </a:avLst>
          </a:prstGeom>
          <a:solidFill>
            <a:srgbClr val="13253E"/>
          </a:solidFill>
          <a:ln cap="flat" cmpd="sng" w="165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3822192" y="182880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Conv2D 32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6" name="Google Shape;286;p8"/>
          <p:cNvCxnSpPr/>
          <p:nvPr/>
        </p:nvCxnSpPr>
        <p:spPr>
          <a:xfrm>
            <a:off x="5202936" y="2487168"/>
            <a:ext cx="201168" cy="0"/>
          </a:xfrm>
          <a:prstGeom prst="straightConnector1">
            <a:avLst/>
          </a:prstGeom>
          <a:noFill/>
          <a:ln cap="flat" cmpd="sng" w="19050">
            <a:solidFill>
              <a:srgbClr val="27D3E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7" name="Google Shape;287;p8"/>
          <p:cNvSpPr/>
          <p:nvPr/>
        </p:nvSpPr>
        <p:spPr>
          <a:xfrm>
            <a:off x="3822192" y="32004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+MaxPool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5413248" y="1828800"/>
            <a:ext cx="1371600" cy="1325880"/>
          </a:xfrm>
          <a:prstGeom prst="roundRect">
            <a:avLst>
              <a:gd fmla="val 5517" name="adj"/>
            </a:avLst>
          </a:prstGeom>
          <a:solidFill>
            <a:srgbClr val="13253E"/>
          </a:solidFill>
          <a:ln cap="flat" cmpd="sng" w="165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5413248" y="182880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Conv2D 64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0" name="Google Shape;290;p8"/>
          <p:cNvCxnSpPr/>
          <p:nvPr/>
        </p:nvCxnSpPr>
        <p:spPr>
          <a:xfrm>
            <a:off x="6793992" y="2487168"/>
            <a:ext cx="201168" cy="0"/>
          </a:xfrm>
          <a:prstGeom prst="straightConnector1">
            <a:avLst/>
          </a:prstGeom>
          <a:noFill/>
          <a:ln cap="flat" cmpd="sng" w="19050">
            <a:solidFill>
              <a:srgbClr val="27D3E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91" name="Google Shape;291;p8"/>
          <p:cNvSpPr/>
          <p:nvPr/>
        </p:nvSpPr>
        <p:spPr>
          <a:xfrm>
            <a:off x="5413248" y="32004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+MaxPool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7004304" y="1828800"/>
            <a:ext cx="1371600" cy="1325880"/>
          </a:xfrm>
          <a:prstGeom prst="roundRect">
            <a:avLst>
              <a:gd fmla="val 5517" name="adj"/>
            </a:avLst>
          </a:prstGeom>
          <a:solidFill>
            <a:srgbClr val="13253E"/>
          </a:solidFill>
          <a:ln cap="flat" cmpd="sng" w="165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7004304" y="182880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Conv2D 128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4" name="Google Shape;294;p8"/>
          <p:cNvCxnSpPr/>
          <p:nvPr/>
        </p:nvCxnSpPr>
        <p:spPr>
          <a:xfrm>
            <a:off x="8385048" y="2487168"/>
            <a:ext cx="201168" cy="0"/>
          </a:xfrm>
          <a:prstGeom prst="straightConnector1">
            <a:avLst/>
          </a:prstGeom>
          <a:noFill/>
          <a:ln cap="flat" cmpd="sng" w="19050">
            <a:solidFill>
              <a:srgbClr val="27D3E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95" name="Google Shape;295;p8"/>
          <p:cNvSpPr/>
          <p:nvPr/>
        </p:nvSpPr>
        <p:spPr>
          <a:xfrm>
            <a:off x="7004304" y="32004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+MaxPool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8595360" y="1828800"/>
            <a:ext cx="1371600" cy="1325880"/>
          </a:xfrm>
          <a:prstGeom prst="roundRect">
            <a:avLst>
              <a:gd fmla="val 5517" name="adj"/>
            </a:avLst>
          </a:prstGeom>
          <a:solidFill>
            <a:srgbClr val="13253E"/>
          </a:solidFill>
          <a:ln cap="flat" cmpd="sng" w="165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8595360" y="182880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Dense 128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p8"/>
          <p:cNvCxnSpPr/>
          <p:nvPr/>
        </p:nvCxnSpPr>
        <p:spPr>
          <a:xfrm>
            <a:off x="9976104" y="2487168"/>
            <a:ext cx="201168" cy="0"/>
          </a:xfrm>
          <a:prstGeom prst="straightConnector1">
            <a:avLst/>
          </a:prstGeom>
          <a:noFill/>
          <a:ln cap="flat" cmpd="sng" w="19050">
            <a:solidFill>
              <a:srgbClr val="27D3E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99" name="Google Shape;299;p8"/>
          <p:cNvSpPr/>
          <p:nvPr/>
        </p:nvSpPr>
        <p:spPr>
          <a:xfrm>
            <a:off x="10186416" y="1828800"/>
            <a:ext cx="1371600" cy="1325880"/>
          </a:xfrm>
          <a:prstGeom prst="roundRect">
            <a:avLst>
              <a:gd fmla="val 5517" name="adj"/>
            </a:avLst>
          </a:prstGeom>
          <a:solidFill>
            <a:srgbClr val="27D3E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10186416" y="182880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B1A2E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B1A2E"/>
                </a:solidFill>
                <a:latin typeface="Malgun Gothic"/>
                <a:ea typeface="Malgun Gothic"/>
                <a:cs typeface="Malgun Gothic"/>
                <a:sym typeface="Malgun Gothic"/>
              </a:rPr>
              <a:t>Softmax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640080" y="3977640"/>
            <a:ext cx="5349240" cy="1828800"/>
          </a:xfrm>
          <a:prstGeom prst="roundRect">
            <a:avLst>
              <a:gd fmla="val 4500" name="adj"/>
            </a:avLst>
          </a:prstGeom>
          <a:solidFill>
            <a:srgbClr val="16304E"/>
          </a:solidFill>
          <a:ln cap="flat" cmpd="sng" w="17775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868680" y="41605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Focal Loss (γ = 3.0)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868680" y="4572000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맞히기 쉬운 다수 클래스(none)의 손실을 깎아</a:t>
            </a:r>
            <a:endParaRPr b="0" i="0" sz="130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드문 결함 패턴 학습에 집중 → 불균형 보정의 핵심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6172200" y="3977640"/>
            <a:ext cx="5349240" cy="1828800"/>
          </a:xfrm>
          <a:prstGeom prst="roundRect">
            <a:avLst>
              <a:gd fmla="val 45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6400800" y="4114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Optimizer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8229600" y="41148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Adam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6400800" y="4507992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Activation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8229600" y="450799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ReLU / Softmax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6400800" y="4901184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과적합 방지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8229600" y="4901184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 Augmentation · Dropout 0.3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6400800" y="5294376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해상도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8229600" y="5294376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128×128 (Loc/Edge-Loc 구분 강화,</a:t>
            </a:r>
            <a:endParaRPr b="0" i="0" sz="125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Edge-Loc/Edge-Ring 구분 강화)</a:t>
            </a:r>
            <a:endParaRPr b="0" i="0" sz="125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9"/>
          <p:cNvSpPr/>
          <p:nvPr/>
        </p:nvSpPr>
        <p:spPr>
          <a:xfrm>
            <a:off x="6080760" y="1554480"/>
            <a:ext cx="5440680" cy="4114800"/>
          </a:xfrm>
          <a:prstGeom prst="roundRect">
            <a:avLst>
              <a:gd fmla="val 2000" name="adj"/>
            </a:avLst>
          </a:prstGeom>
          <a:solidFill>
            <a:srgbClr val="16304E"/>
          </a:solidFill>
          <a:ln cap="flat" cmpd="sng" w="17775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6309360" y="178308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1" i="0" sz="1700" u="none" cap="none" strike="noStrike">
              <a:solidFill>
                <a:srgbClr val="27D3E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6309360" y="178308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3" name="Google Shape;323;p9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4" name="Google Shape;324;p9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5" name="Google Shape;325;p9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6" name="Google Shape;326;p9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7" name="Google Shape;327;p9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8" name="Google Shape;328;p9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9" name="Google Shape;329;p9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TRAINING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 및 실험 관리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640080" y="1554480"/>
            <a:ext cx="5349240" cy="4114800"/>
          </a:xfrm>
          <a:prstGeom prst="roundRect">
            <a:avLst>
              <a:gd fmla="val 200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868680" y="17373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 전략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868680" y="219456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868680" y="219456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1554480" y="2176272"/>
            <a:ext cx="4206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Focal Loss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1554480" y="2505456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다수 클래스 억제, 드문 결함에 집중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/>
          <p:nvPr/>
        </p:nvSpPr>
        <p:spPr>
          <a:xfrm>
            <a:off x="868680" y="3044952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868680" y="3044952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1554480" y="3026664"/>
            <a:ext cx="4206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EarlyStopping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1554480" y="335584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val_loss 5회 미개선 시 중단, 최적 가중치 복원</a:t>
            </a:r>
            <a:endParaRPr b="0" i="0" sz="1100" u="none" cap="none" strike="noStrike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3" name="Google Shape;343;p9"/>
          <p:cNvSpPr/>
          <p:nvPr/>
        </p:nvSpPr>
        <p:spPr>
          <a:xfrm>
            <a:off x="868680" y="3895344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9"/>
          <p:cNvSpPr/>
          <p:nvPr/>
        </p:nvSpPr>
        <p:spPr>
          <a:xfrm>
            <a:off x="868680" y="3895344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9"/>
          <p:cNvSpPr/>
          <p:nvPr/>
        </p:nvSpPr>
        <p:spPr>
          <a:xfrm>
            <a:off x="1554480" y="3877056"/>
            <a:ext cx="4206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Class 유지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9"/>
          <p:cNvSpPr/>
          <p:nvPr/>
        </p:nvSpPr>
        <p:spPr>
          <a:xfrm>
            <a:off x="1554480" y="420624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결함 8종 전부 사용 (데이터 안 버림)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9"/>
          <p:cNvSpPr/>
          <p:nvPr/>
        </p:nvSpPr>
        <p:spPr>
          <a:xfrm>
            <a:off x="868680" y="4745736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0B1A2E"/>
          </a:solidFill>
          <a:ln cap="flat" cmpd="sng" w="165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9"/>
          <p:cNvSpPr/>
          <p:nvPr/>
        </p:nvSpPr>
        <p:spPr>
          <a:xfrm>
            <a:off x="868680" y="4745736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9"/>
          <p:cNvSpPr/>
          <p:nvPr/>
        </p:nvSpPr>
        <p:spPr>
          <a:xfrm>
            <a:off x="1554480" y="4727448"/>
            <a:ext cx="4206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Batch / Epoch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9"/>
          <p:cNvSpPr/>
          <p:nvPr/>
        </p:nvSpPr>
        <p:spPr>
          <a:xfrm>
            <a:off x="1554480" y="5056632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32 / 최대 </a:t>
            </a:r>
            <a:r>
              <a:rPr lang="en-US" sz="110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0 (상한, 자동 조기 종료)</a:t>
            </a:r>
            <a:endParaRPr b="0" i="0" sz="1100" u="none" cap="none" strike="noStrike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1" name="Google Shape;351;p9"/>
          <p:cNvSpPr/>
          <p:nvPr/>
        </p:nvSpPr>
        <p:spPr>
          <a:xfrm>
            <a:off x="6966585" y="17373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MLflow 실험 추적</a:t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9"/>
          <p:cNvSpPr/>
          <p:nvPr/>
        </p:nvSpPr>
        <p:spPr>
          <a:xfrm>
            <a:off x="6957060" y="208330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설정·기법을 바꿀 때마다 자동 기록 → 실험 비교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309350" y="2382396"/>
            <a:ext cx="5120700" cy="12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Parameters  </a:t>
            </a: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img_size · focal_gamma · cap_none · batch</a:t>
            </a:r>
            <a:endParaRPr b="0" i="0" sz="125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Metrics  </a:t>
            </a: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test_accuracy · macro_f1 </a:t>
            </a:r>
            <a:r>
              <a:rPr lang="en-US" sz="1250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precision · 클래스별 recall</a:t>
            </a:r>
            <a:endParaRPr b="0" i="0" sz="125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Artifacts  </a:t>
            </a: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혼동행렬 이미지 · 분류 리포트</a:t>
            </a:r>
            <a:endParaRPr b="0" i="0" sz="125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Model  </a:t>
            </a:r>
            <a:r>
              <a:rPr b="0" i="0" lang="en-US" sz="125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 모델 버전 자동 저장</a:t>
            </a:r>
            <a:endParaRPr b="0" i="0" sz="1250" u="none" cap="none" strike="noStrike">
              <a:solidFill>
                <a:srgbClr val="F5FA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6309360" y="1786128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7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1" i="0" sz="1700" u="none" cap="none" strike="noStrike">
              <a:solidFill>
                <a:srgbClr val="27D3E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55" name="Google Shape;355;p9" title="MLflow_macro f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62038" y="3688933"/>
            <a:ext cx="3678126" cy="1839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3" name="Google Shape;363;p10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4" name="Google Shape;364;p10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5" name="Google Shape;365;p10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6" name="Google Shape;366;p10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7" name="Google Shape;367;p10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8" name="Google Shape;368;p10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9" name="Google Shape;369;p10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</a:t>
            </a:r>
            <a:r>
              <a:rPr b="1" lang="en-US" sz="1200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 TRAINING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실험 비교 — 클래스 불균형 튜닝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640080" y="1554480"/>
            <a:ext cx="5943600" cy="4160520"/>
          </a:xfrm>
          <a:prstGeom prst="roundRect">
            <a:avLst>
              <a:gd fmla="val 1978" name="adj"/>
            </a:avLst>
          </a:prstGeom>
          <a:solidFill>
            <a:srgbClr val="16304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apnone_chart.png" id="374" name="Google Shape;37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8680" y="2148840"/>
            <a:ext cx="54864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10"/>
          <p:cNvSpPr/>
          <p:nvPr/>
        </p:nvSpPr>
        <p:spPr>
          <a:xfrm>
            <a:off x="640080" y="493776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CAP_NONE 값에 따른 Macro-F1 변화 (MLflow </a:t>
            </a:r>
            <a:r>
              <a:rPr lang="en-US" sz="115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r>
              <a:rPr b="0" i="0" lang="en-US" sz="11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 run 비교)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6766560" y="1554480"/>
            <a:ext cx="4754880" cy="4160520"/>
          </a:xfrm>
          <a:prstGeom prst="roundRect">
            <a:avLst>
              <a:gd fmla="val 1978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0"/>
          <p:cNvSpPr/>
          <p:nvPr/>
        </p:nvSpPr>
        <p:spPr>
          <a:xfrm>
            <a:off x="6995160" y="17373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인사이트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6995160" y="2240280"/>
            <a:ext cx="429768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Char char="→"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none(</a:t>
            </a:r>
            <a:r>
              <a:rPr lang="en-US" sz="1250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정상)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줄일수록 결함 recall은 계속 상승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Char char="→"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그러나 10,000 미만에선 정상 오판(false alarm)이 늘어 Macro-F1 하락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Char char="→"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recall 단일 지표가 아닌 Macro-F1/</a:t>
            </a:r>
            <a:r>
              <a:rPr lang="en-US" sz="1250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Macro-Precision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기준으로 최적점 탐색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Char char="→"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cap=10,000을 최종 채택 (변곡점)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6995160" y="4983480"/>
            <a:ext cx="4297680" cy="566928"/>
          </a:xfrm>
          <a:prstGeom prst="roundRect">
            <a:avLst>
              <a:gd fmla="val 12903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6995160" y="4983480"/>
            <a:ext cx="4297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불균형을 정량적으로 튜닝 → 올바른 지표로 판단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f2cf0180b9_1_35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1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g3f2cf0180b9_1_35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8" name="Google Shape;388;g3f2cf0180b9_1_35"/>
          <p:cNvCxnSpPr/>
          <p:nvPr/>
        </p:nvCxnSpPr>
        <p:spPr>
          <a:xfrm>
            <a:off x="10058400" y="0"/>
            <a:ext cx="0" cy="640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9" name="Google Shape;389;g3f2cf0180b9_1_35"/>
          <p:cNvCxnSpPr/>
          <p:nvPr/>
        </p:nvCxnSpPr>
        <p:spPr>
          <a:xfrm>
            <a:off x="10058400" y="640080"/>
            <a:ext cx="128010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0" name="Google Shape;390;g3f2cf0180b9_1_35"/>
          <p:cNvSpPr/>
          <p:nvPr/>
        </p:nvSpPr>
        <p:spPr>
          <a:xfrm>
            <a:off x="11301984" y="566928"/>
            <a:ext cx="146400" cy="146400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1" name="Google Shape;391;g3f2cf0180b9_1_35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2" name="Google Shape;392;g3f2cf0180b9_1_35"/>
          <p:cNvCxnSpPr/>
          <p:nvPr/>
        </p:nvCxnSpPr>
        <p:spPr>
          <a:xfrm>
            <a:off x="0" y="6400800"/>
            <a:ext cx="100590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3" name="Google Shape;393;g3f2cf0180b9_1_35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4" name="Google Shape;394;g3f2cf0180b9_1_35"/>
          <p:cNvSpPr/>
          <p:nvPr/>
        </p:nvSpPr>
        <p:spPr>
          <a:xfrm>
            <a:off x="932688" y="5989320"/>
            <a:ext cx="146400" cy="146400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g3f2cf0180b9_1_35"/>
          <p:cNvSpPr/>
          <p:nvPr/>
        </p:nvSpPr>
        <p:spPr>
          <a:xfrm>
            <a:off x="548640" y="502920"/>
            <a:ext cx="109800" cy="713100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g3f2cf0180b9_1_35"/>
          <p:cNvSpPr/>
          <p:nvPr/>
        </p:nvSpPr>
        <p:spPr>
          <a:xfrm>
            <a:off x="777240" y="457200"/>
            <a:ext cx="10058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</a:t>
            </a:r>
            <a:r>
              <a:rPr b="1" lang="en-US" sz="1200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 TRAINING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g3f2cf0180b9_1_35"/>
          <p:cNvSpPr/>
          <p:nvPr/>
        </p:nvSpPr>
        <p:spPr>
          <a:xfrm>
            <a:off x="758952" y="731520"/>
            <a:ext cx="107898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실험 비교 — </a:t>
            </a:r>
            <a:r>
              <a:rPr b="1" lang="en-US" sz="2900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Confusion Matrix 전/후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g3f2cf0180b9_1_35"/>
          <p:cNvSpPr/>
          <p:nvPr/>
        </p:nvSpPr>
        <p:spPr>
          <a:xfrm>
            <a:off x="648951" y="1679170"/>
            <a:ext cx="5149500" cy="4160400"/>
          </a:xfrm>
          <a:prstGeom prst="roundRect">
            <a:avLst>
              <a:gd fmla="val 1978" name="adj"/>
            </a:avLst>
          </a:prstGeom>
          <a:solidFill>
            <a:srgbClr val="16304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g3f2cf0180b9_1_35"/>
          <p:cNvSpPr/>
          <p:nvPr/>
        </p:nvSpPr>
        <p:spPr>
          <a:xfrm>
            <a:off x="6460600" y="1679175"/>
            <a:ext cx="5263200" cy="4160400"/>
          </a:xfrm>
          <a:prstGeom prst="roundRect">
            <a:avLst>
              <a:gd fmla="val 1978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m_final.png" id="400" name="Google Shape;400;g3f2cf0180b9_1_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35650" y="1909737"/>
            <a:ext cx="4913101" cy="369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g3f2cf0180b9_1_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151" y="1909725"/>
            <a:ext cx="4913100" cy="36992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9" name="Google Shape;409;p13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0" name="Google Shape;410;p13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3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2" name="Google Shape;412;p13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3" name="Google Shape;413;p13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4" name="Google Shape;414;p13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5" name="Google Shape;415;p13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06 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3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 평가 — Best Run (cap_none=10,000)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640080" y="1508760"/>
            <a:ext cx="3429000" cy="1600200"/>
          </a:xfrm>
          <a:prstGeom prst="roundRect">
            <a:avLst>
              <a:gd fmla="val 514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3"/>
          <p:cNvSpPr/>
          <p:nvPr/>
        </p:nvSpPr>
        <p:spPr>
          <a:xfrm>
            <a:off x="640080" y="1627632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Test Accuracy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3"/>
          <p:cNvSpPr/>
          <p:nvPr/>
        </p:nvSpPr>
        <p:spPr>
          <a:xfrm>
            <a:off x="640080" y="1965960"/>
            <a:ext cx="3429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3600"/>
              <a:buFont typeface="Malgun Gothic"/>
              <a:buNone/>
            </a:pPr>
            <a:r>
              <a:rPr b="1" i="0" lang="en-US" sz="3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92.4%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3"/>
          <p:cNvSpPr/>
          <p:nvPr/>
        </p:nvSpPr>
        <p:spPr>
          <a:xfrm>
            <a:off x="640080" y="2724912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(참고 지표)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3"/>
          <p:cNvSpPr/>
          <p:nvPr/>
        </p:nvSpPr>
        <p:spPr>
          <a:xfrm>
            <a:off x="4297680" y="1508760"/>
            <a:ext cx="3429000" cy="1600200"/>
          </a:xfrm>
          <a:prstGeom prst="roundRect">
            <a:avLst>
              <a:gd fmla="val 5143" name="adj"/>
            </a:avLst>
          </a:prstGeom>
          <a:solidFill>
            <a:srgbClr val="13253E"/>
          </a:solidFill>
          <a:ln cap="flat" cmpd="sng" w="203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3"/>
          <p:cNvSpPr/>
          <p:nvPr/>
        </p:nvSpPr>
        <p:spPr>
          <a:xfrm>
            <a:off x="4297680" y="1627632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Macro-F1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3"/>
          <p:cNvSpPr/>
          <p:nvPr/>
        </p:nvSpPr>
        <p:spPr>
          <a:xfrm>
            <a:off x="4297680" y="1965960"/>
            <a:ext cx="3429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D3EE"/>
              </a:buClr>
              <a:buSzPts val="3600"/>
              <a:buFont typeface="Malgun Gothic"/>
              <a:buNone/>
            </a:pPr>
            <a:r>
              <a:rPr b="1" i="0" lang="en-US" sz="360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0.90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3"/>
          <p:cNvSpPr/>
          <p:nvPr/>
        </p:nvSpPr>
        <p:spPr>
          <a:xfrm>
            <a:off x="4297680" y="2724912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지표 · 클래스 공평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3"/>
          <p:cNvSpPr/>
          <p:nvPr/>
        </p:nvSpPr>
        <p:spPr>
          <a:xfrm>
            <a:off x="7955280" y="1508760"/>
            <a:ext cx="3429000" cy="1600200"/>
          </a:xfrm>
          <a:prstGeom prst="roundRect">
            <a:avLst>
              <a:gd fmla="val 5143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3"/>
          <p:cNvSpPr/>
          <p:nvPr/>
        </p:nvSpPr>
        <p:spPr>
          <a:xfrm>
            <a:off x="7955280" y="1627632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Macro-Precision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3"/>
          <p:cNvSpPr/>
          <p:nvPr/>
        </p:nvSpPr>
        <p:spPr>
          <a:xfrm>
            <a:off x="7955280" y="1965960"/>
            <a:ext cx="3429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3600"/>
              <a:buFont typeface="Malgun Gothic"/>
              <a:buNone/>
            </a:pPr>
            <a:r>
              <a:rPr b="1" i="0" lang="en-US" sz="3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0.90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3"/>
          <p:cNvSpPr/>
          <p:nvPr/>
        </p:nvSpPr>
        <p:spPr>
          <a:xfrm>
            <a:off x="7955280" y="2724912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오판(false alarm) 균형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3"/>
          <p:cNvSpPr/>
          <p:nvPr/>
        </p:nvSpPr>
        <p:spPr>
          <a:xfrm>
            <a:off x="640080" y="3291840"/>
            <a:ext cx="4160520" cy="3154680"/>
          </a:xfrm>
          <a:prstGeom prst="roundRect">
            <a:avLst>
              <a:gd fmla="val 2609" name="adj"/>
            </a:avLst>
          </a:prstGeom>
          <a:solidFill>
            <a:srgbClr val="16304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3"/>
          <p:cNvSpPr/>
          <p:nvPr/>
        </p:nvSpPr>
        <p:spPr>
          <a:xfrm>
            <a:off x="4983480" y="3291840"/>
            <a:ext cx="6537960" cy="3154680"/>
          </a:xfrm>
          <a:prstGeom prst="roundRect">
            <a:avLst>
              <a:gd fmla="val 2609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3"/>
          <p:cNvSpPr/>
          <p:nvPr/>
        </p:nvSpPr>
        <p:spPr>
          <a:xfrm>
            <a:off x="5212080" y="34290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 해석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3"/>
          <p:cNvSpPr/>
          <p:nvPr/>
        </p:nvSpPr>
        <p:spPr>
          <a:xfrm>
            <a:off x="5212080" y="3840480"/>
            <a:ext cx="61264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정확도(92.4%)는 참고용 — 정상 비중 보정 후에도 </a:t>
            </a:r>
            <a:r>
              <a:rPr b="1" i="0" lang="en-US" sz="1250" u="none" cap="none" strike="noStrike">
                <a:solidFill>
                  <a:srgbClr val="27D3EE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Macro-F1 0.90 </a:t>
            </a: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달성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Char char="→"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Scratch·Edge-Loc의 정상(none) 누락 대폭 감소 — 불량 놓침 최소화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Char char="→"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Recall·Precision 균형(0.90/0.90)으로 false alarm도 억제</a:t>
            </a:r>
            <a:endParaRPr b="0" i="0" sz="1250" u="none" cap="none" strike="noStrike">
              <a:solidFill>
                <a:srgbClr val="D7E5F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2900" lvl="0" marL="34290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7E5F2"/>
              </a:buClr>
              <a:buSzPts val="1250"/>
              <a:buFont typeface="Malgun Gothic"/>
              <a:buChar char="→"/>
            </a:pPr>
            <a:r>
              <a:rPr b="0" i="0" lang="en-US" sz="1250" u="none" cap="none" strike="noStrike">
                <a:solidFill>
                  <a:srgbClr val="D7E5F2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한계: Loc(recall 0.79)가 최저 — 국부 불량의 패턴 다양성 때문, 추가 데이터·고해상도로 개선 여지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5" name="Google Shape;435;p13" title="accuracy and macro_f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625" y="3392813"/>
            <a:ext cx="3781425" cy="295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f2cf0180b9_1_2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1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g3f2cf0180b9_1_2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3" name="Google Shape;443;g3f2cf0180b9_1_2"/>
          <p:cNvCxnSpPr/>
          <p:nvPr/>
        </p:nvCxnSpPr>
        <p:spPr>
          <a:xfrm>
            <a:off x="10058400" y="0"/>
            <a:ext cx="0" cy="640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44" name="Google Shape;444;g3f2cf0180b9_1_2"/>
          <p:cNvCxnSpPr/>
          <p:nvPr/>
        </p:nvCxnSpPr>
        <p:spPr>
          <a:xfrm>
            <a:off x="10058400" y="640080"/>
            <a:ext cx="128010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5" name="Google Shape;445;g3f2cf0180b9_1_2"/>
          <p:cNvSpPr/>
          <p:nvPr/>
        </p:nvSpPr>
        <p:spPr>
          <a:xfrm>
            <a:off x="11301984" y="566928"/>
            <a:ext cx="146400" cy="146400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6" name="Google Shape;446;g3f2cf0180b9_1_2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47" name="Google Shape;447;g3f2cf0180b9_1_2"/>
          <p:cNvCxnSpPr/>
          <p:nvPr/>
        </p:nvCxnSpPr>
        <p:spPr>
          <a:xfrm>
            <a:off x="0" y="6400800"/>
            <a:ext cx="100590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48" name="Google Shape;448;g3f2cf0180b9_1_2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9" name="Google Shape;449;g3f2cf0180b9_1_2"/>
          <p:cNvSpPr/>
          <p:nvPr/>
        </p:nvSpPr>
        <p:spPr>
          <a:xfrm>
            <a:off x="932688" y="5989320"/>
            <a:ext cx="146400" cy="146400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g3f2cf0180b9_1_2"/>
          <p:cNvSpPr/>
          <p:nvPr/>
        </p:nvSpPr>
        <p:spPr>
          <a:xfrm>
            <a:off x="548640" y="502920"/>
            <a:ext cx="109800" cy="713100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g3f2cf0180b9_1_2"/>
          <p:cNvSpPr/>
          <p:nvPr/>
        </p:nvSpPr>
        <p:spPr>
          <a:xfrm>
            <a:off x="777240" y="457200"/>
            <a:ext cx="10058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06 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g3f2cf0180b9_1_2"/>
          <p:cNvSpPr/>
          <p:nvPr/>
        </p:nvSpPr>
        <p:spPr>
          <a:xfrm>
            <a:off x="758952" y="731520"/>
            <a:ext cx="107898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 평가 — </a:t>
            </a:r>
            <a:r>
              <a:rPr b="1" lang="en-US" sz="2900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Training vs Validation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g3f2cf0180b9_1_2"/>
          <p:cNvSpPr/>
          <p:nvPr/>
        </p:nvSpPr>
        <p:spPr>
          <a:xfrm>
            <a:off x="5212080" y="342900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 해석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4" name="Google Shape;454;g3f2cf0180b9_1_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5590" y="1590688"/>
            <a:ext cx="10580500" cy="3950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5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2" name="Google Shape;462;p15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3" name="Google Shape;463;p15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4" name="Google Shape;464;p15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5" name="Google Shape;465;p15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6" name="Google Shape;466;p15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7" name="Google Shape;467;p15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8" name="Google Shape;468;p15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5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06  E</a:t>
            </a:r>
            <a:r>
              <a:rPr b="1" lang="en-US" sz="1200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5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Grad-CAM — 결함 판단 근거 시각화 (XAI)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dcam_clean.png" id="472" name="Google Shape;47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5880" y="1554480"/>
            <a:ext cx="9555480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15"/>
          <p:cNvSpPr/>
          <p:nvPr/>
        </p:nvSpPr>
        <p:spPr>
          <a:xfrm>
            <a:off x="640080" y="638251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따뜻한 색(노랑, 빨강)</a:t>
            </a:r>
            <a:r>
              <a:rPr b="0" i="0" lang="en-US" sz="11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진할수록 예측 기여가 큰 영역 — Scratch의 긁힌 선·Random의 분산 영역에 정확히 집중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6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1" name="Google Shape;481;p16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82" name="Google Shape;482;p16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3" name="Google Shape;483;p16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4" name="Google Shape;484;p16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85" name="Google Shape;485;p16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86" name="Google Shape;486;p16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7" name="Google Shape;487;p16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07  DEPLOY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 시각화 및 배포 — Streamlit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1" name="Google Shape;49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1204" y="1559325"/>
            <a:ext cx="10369274" cy="44251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17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7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99" name="Google Shape;499;p17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00" name="Google Shape;500;p17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1" name="Google Shape;501;p17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02" name="Google Shape;502;p17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03" name="Google Shape;503;p17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04" name="Google Shape;504;p17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5" name="Google Shape;505;p17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7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7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08  IMPACT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7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i="0" lang="en-US" sz="29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결론 및 제조 현장 활용 방안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7"/>
          <p:cNvSpPr/>
          <p:nvPr/>
        </p:nvSpPr>
        <p:spPr>
          <a:xfrm>
            <a:off x="640080" y="1600200"/>
            <a:ext cx="5349240" cy="1874520"/>
          </a:xfrm>
          <a:prstGeom prst="roundRect">
            <a:avLst>
              <a:gd fmla="val 439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17"/>
          <p:cNvSpPr/>
          <p:nvPr/>
        </p:nvSpPr>
        <p:spPr>
          <a:xfrm>
            <a:off x="868680" y="1828800"/>
            <a:ext cx="457200" cy="457200"/>
          </a:xfrm>
          <a:prstGeom prst="roundRect">
            <a:avLst>
              <a:gd fmla="val 12000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7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7"/>
          <p:cNvSpPr/>
          <p:nvPr/>
        </p:nvSpPr>
        <p:spPr>
          <a:xfrm>
            <a:off x="1508760" y="1856232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Smart Manufacturing 구현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7"/>
          <p:cNvSpPr/>
          <p:nvPr/>
        </p:nvSpPr>
        <p:spPr>
          <a:xfrm>
            <a:off x="914400" y="2468880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 데이터(웨이퍼맵)에 AI/ML 적용한 양산 효율화 사례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7"/>
          <p:cNvSpPr/>
          <p:nvPr/>
        </p:nvSpPr>
        <p:spPr>
          <a:xfrm>
            <a:off x="6217920" y="1600200"/>
            <a:ext cx="5349240" cy="1874520"/>
          </a:xfrm>
          <a:prstGeom prst="roundRect">
            <a:avLst>
              <a:gd fmla="val 439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17"/>
          <p:cNvSpPr/>
          <p:nvPr/>
        </p:nvSpPr>
        <p:spPr>
          <a:xfrm>
            <a:off x="6446520" y="1828800"/>
            <a:ext cx="457200" cy="457200"/>
          </a:xfrm>
          <a:prstGeom prst="roundRect">
            <a:avLst>
              <a:gd fmla="val 12000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17"/>
          <p:cNvSpPr/>
          <p:nvPr/>
        </p:nvSpPr>
        <p:spPr>
          <a:xfrm>
            <a:off x="6446520" y="1828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7"/>
          <p:cNvSpPr/>
          <p:nvPr/>
        </p:nvSpPr>
        <p:spPr>
          <a:xfrm>
            <a:off x="7086600" y="1856232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IT × OT 융합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6492240" y="2468880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공정·장비 도메인 지식 + 딥러닝 결합, 패턴→공정원인 해석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7"/>
          <p:cNvSpPr/>
          <p:nvPr/>
        </p:nvSpPr>
        <p:spPr>
          <a:xfrm>
            <a:off x="640080" y="3703320"/>
            <a:ext cx="5349240" cy="1874520"/>
          </a:xfrm>
          <a:prstGeom prst="roundRect">
            <a:avLst>
              <a:gd fmla="val 439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7"/>
          <p:cNvSpPr/>
          <p:nvPr/>
        </p:nvSpPr>
        <p:spPr>
          <a:xfrm>
            <a:off x="868680" y="3931920"/>
            <a:ext cx="457200" cy="457200"/>
          </a:xfrm>
          <a:prstGeom prst="roundRect">
            <a:avLst>
              <a:gd fmla="val 12000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7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600"/>
              <a:buFont typeface="Malgun Gothic"/>
              <a:buNone/>
            </a:pPr>
            <a:r>
              <a:rPr b="1" lang="en-US" sz="1600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1508760" y="3959352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Work With AI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914400" y="4572000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육안 검사 자동화로 반복 업무 제거·판단 지원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6217920" y="3703320"/>
            <a:ext cx="5349240" cy="1874520"/>
          </a:xfrm>
          <a:prstGeom prst="roundRect">
            <a:avLst>
              <a:gd fmla="val 439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7"/>
          <p:cNvSpPr/>
          <p:nvPr/>
        </p:nvSpPr>
        <p:spPr>
          <a:xfrm>
            <a:off x="6446520" y="3931920"/>
            <a:ext cx="457200" cy="457200"/>
          </a:xfrm>
          <a:prstGeom prst="roundRect">
            <a:avLst>
              <a:gd fmla="val 12000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17"/>
          <p:cNvSpPr/>
          <p:nvPr/>
        </p:nvSpPr>
        <p:spPr>
          <a:xfrm>
            <a:off x="6446520" y="3931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7086600" y="3959352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Digital Twin 확장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6492240" y="4572000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FDC·MES 연계 실시간 이상탐지, 가상 검증으로 발전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f2dbbdcfeb_0_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1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g3f2dbbdcfeb_0_0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36" name="Google Shape;536;g3f2dbbdcfeb_0_0"/>
          <p:cNvCxnSpPr/>
          <p:nvPr/>
        </p:nvCxnSpPr>
        <p:spPr>
          <a:xfrm>
            <a:off x="10058400" y="0"/>
            <a:ext cx="0" cy="640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7" name="Google Shape;537;g3f2dbbdcfeb_0_0"/>
          <p:cNvCxnSpPr/>
          <p:nvPr/>
        </p:nvCxnSpPr>
        <p:spPr>
          <a:xfrm>
            <a:off x="10058400" y="640080"/>
            <a:ext cx="128010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8" name="Google Shape;538;g3f2dbbdcfeb_0_0"/>
          <p:cNvSpPr/>
          <p:nvPr/>
        </p:nvSpPr>
        <p:spPr>
          <a:xfrm>
            <a:off x="11301984" y="566928"/>
            <a:ext cx="146400" cy="146400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39" name="Google Shape;539;g3f2dbbdcfeb_0_0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0" name="Google Shape;540;g3f2dbbdcfeb_0_0"/>
          <p:cNvCxnSpPr/>
          <p:nvPr/>
        </p:nvCxnSpPr>
        <p:spPr>
          <a:xfrm>
            <a:off x="0" y="6400800"/>
            <a:ext cx="100590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1" name="Google Shape;541;g3f2dbbdcfeb_0_0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g3f2dbbdcfeb_0_0"/>
          <p:cNvSpPr/>
          <p:nvPr/>
        </p:nvSpPr>
        <p:spPr>
          <a:xfrm>
            <a:off x="932688" y="5989320"/>
            <a:ext cx="146400" cy="146400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g3f2dbbdcfeb_0_0"/>
          <p:cNvSpPr/>
          <p:nvPr/>
        </p:nvSpPr>
        <p:spPr>
          <a:xfrm>
            <a:off x="548640" y="502920"/>
            <a:ext cx="109800" cy="713100"/>
          </a:xfrm>
          <a:prstGeom prst="roundRect">
            <a:avLst>
              <a:gd fmla="val 41667" name="adj"/>
            </a:avLst>
          </a:prstGeom>
          <a:solidFill>
            <a:srgbClr val="27D3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g3f2dbbdcfeb_0_0"/>
          <p:cNvSpPr/>
          <p:nvPr/>
        </p:nvSpPr>
        <p:spPr>
          <a:xfrm>
            <a:off x="777240" y="457200"/>
            <a:ext cx="10058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0</a:t>
            </a:r>
            <a:r>
              <a:rPr b="1" lang="en-US" sz="1200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r>
              <a:rPr b="1" i="0" lang="en-US" sz="12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</a:t>
            </a:r>
            <a:r>
              <a:rPr b="1" lang="en-US" sz="1200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Q&amp;A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g3f2dbbdcfeb_0_0"/>
          <p:cNvSpPr/>
          <p:nvPr/>
        </p:nvSpPr>
        <p:spPr>
          <a:xfrm>
            <a:off x="758952" y="731520"/>
            <a:ext cx="107898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2900"/>
              <a:buFont typeface="Malgun Gothic"/>
              <a:buNone/>
            </a:pPr>
            <a:r>
              <a:rPr b="1" lang="en-US" sz="2900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Trouble Shooting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g3f2dbbdcfeb_0_0"/>
          <p:cNvSpPr/>
          <p:nvPr/>
        </p:nvSpPr>
        <p:spPr>
          <a:xfrm>
            <a:off x="914400" y="2468880"/>
            <a:ext cx="4846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원인 : RandomZoom 사용시 웨이퍼의 가장자리가 잘리는 이슈</a:t>
            </a:r>
            <a:endParaRPr sz="1250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해결 : RandomRotation(0.1), RandomFlip만 사용</a:t>
            </a:r>
            <a:endParaRPr sz="1250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47" name="Google Shape;547;g3f2dbbdcfeb_0_0"/>
          <p:cNvSpPr/>
          <p:nvPr/>
        </p:nvSpPr>
        <p:spPr>
          <a:xfrm>
            <a:off x="6323030" y="2715645"/>
            <a:ext cx="457200" cy="457200"/>
          </a:xfrm>
          <a:prstGeom prst="roundRect">
            <a:avLst>
              <a:gd fmla="val 12000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g3f2dbbdcfeb_0_0"/>
          <p:cNvSpPr/>
          <p:nvPr/>
        </p:nvSpPr>
        <p:spPr>
          <a:xfrm>
            <a:off x="6323030" y="274307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600"/>
              <a:buFont typeface="Malgun Gothic"/>
              <a:buNone/>
            </a:pPr>
            <a:r>
              <a:rPr b="1" lang="en-US" sz="1600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g3f2dbbdcfeb_0_0"/>
          <p:cNvSpPr/>
          <p:nvPr/>
        </p:nvSpPr>
        <p:spPr>
          <a:xfrm>
            <a:off x="6094430" y="2487045"/>
            <a:ext cx="5349300" cy="1874400"/>
          </a:xfrm>
          <a:prstGeom prst="roundRect">
            <a:avLst>
              <a:gd fmla="val 439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g3f2dbbdcfeb_0_0"/>
          <p:cNvSpPr/>
          <p:nvPr/>
        </p:nvSpPr>
        <p:spPr>
          <a:xfrm>
            <a:off x="6963110" y="2743077"/>
            <a:ext cx="4297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lang="en-US" sz="1600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낮은 Recall Value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g3f2dbbdcfeb_0_0"/>
          <p:cNvSpPr/>
          <p:nvPr/>
        </p:nvSpPr>
        <p:spPr>
          <a:xfrm>
            <a:off x="6368750" y="3264225"/>
            <a:ext cx="484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원인 : Loc의 recall 0.79 - 국부 불량의 패턴 다양성 때문</a:t>
            </a:r>
            <a:endParaRPr sz="1250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 : 추가 데이터와 고해상도로 개선 여지</a:t>
            </a:r>
            <a:endParaRPr sz="1250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2" name="Google Shape;552;g3f2dbbdcfeb_0_0"/>
          <p:cNvSpPr/>
          <p:nvPr/>
        </p:nvSpPr>
        <p:spPr>
          <a:xfrm>
            <a:off x="658455" y="2487050"/>
            <a:ext cx="5349300" cy="1874400"/>
          </a:xfrm>
          <a:prstGeom prst="roundRect">
            <a:avLst>
              <a:gd fmla="val 4390" name="adj"/>
            </a:avLst>
          </a:prstGeom>
          <a:solidFill>
            <a:srgbClr val="13253E"/>
          </a:solidFill>
          <a:ln cap="flat" cmpd="sng" w="12700">
            <a:solidFill>
              <a:srgbClr val="2149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g3f2dbbdcfeb_0_0"/>
          <p:cNvSpPr/>
          <p:nvPr/>
        </p:nvSpPr>
        <p:spPr>
          <a:xfrm>
            <a:off x="1527135" y="2743082"/>
            <a:ext cx="4297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1600"/>
              <a:buFont typeface="Malgun Gothic"/>
              <a:buNone/>
            </a:pPr>
            <a:r>
              <a:rPr b="1" lang="en-US" sz="1600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 Augmentation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g3f2dbbdcfeb_0_0"/>
          <p:cNvSpPr/>
          <p:nvPr/>
        </p:nvSpPr>
        <p:spPr>
          <a:xfrm>
            <a:off x="932775" y="3355730"/>
            <a:ext cx="4846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원인 : RandomZoom 사용시 웨이퍼의 가장자리가 잘리는 이슈</a:t>
            </a:r>
            <a:endParaRPr sz="1250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해결 : RandomRotation(0.1), RandomFlip만 사용</a:t>
            </a:r>
            <a:endParaRPr sz="1250">
              <a:solidFill>
                <a:srgbClr val="9FB6C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5" name="Google Shape;555;g3f2dbbdcfeb_0_0"/>
          <p:cNvSpPr/>
          <p:nvPr/>
        </p:nvSpPr>
        <p:spPr>
          <a:xfrm>
            <a:off x="6323030" y="2743075"/>
            <a:ext cx="457200" cy="457200"/>
          </a:xfrm>
          <a:prstGeom prst="roundRect">
            <a:avLst>
              <a:gd fmla="val 12000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g3f2dbbdcfeb_0_0"/>
          <p:cNvSpPr/>
          <p:nvPr/>
        </p:nvSpPr>
        <p:spPr>
          <a:xfrm>
            <a:off x="6323030" y="2715645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600"/>
              <a:buFont typeface="Malgun Gothic"/>
              <a:buNone/>
            </a:pPr>
            <a:r>
              <a:rPr b="1" lang="en-US" sz="1600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g3f2dbbdcfeb_0_0"/>
          <p:cNvSpPr/>
          <p:nvPr/>
        </p:nvSpPr>
        <p:spPr>
          <a:xfrm>
            <a:off x="887055" y="271565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g3f2dbbdcfeb_0_0"/>
          <p:cNvSpPr/>
          <p:nvPr/>
        </p:nvSpPr>
        <p:spPr>
          <a:xfrm>
            <a:off x="872349" y="2688200"/>
            <a:ext cx="486600" cy="512100"/>
          </a:xfrm>
          <a:prstGeom prst="roundRect">
            <a:avLst>
              <a:gd fmla="val 12000" name="adj"/>
            </a:avLst>
          </a:prstGeom>
          <a:solidFill>
            <a:srgbClr val="27D3EE">
              <a:alpha val="20000"/>
            </a:srgbClr>
          </a:solidFill>
          <a:ln cap="flat" cmpd="sng" w="1270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A2E"/>
        </a:solidFill>
      </p:bgPr>
    </p:bg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18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8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6" name="Google Shape;566;p18"/>
          <p:cNvCxnSpPr/>
          <p:nvPr/>
        </p:nvCxnSpPr>
        <p:spPr>
          <a:xfrm>
            <a:off x="10058400" y="0"/>
            <a:ext cx="0" cy="64008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7" name="Google Shape;567;p18"/>
          <p:cNvCxnSpPr/>
          <p:nvPr/>
        </p:nvCxnSpPr>
        <p:spPr>
          <a:xfrm>
            <a:off x="10058400" y="640080"/>
            <a:ext cx="128016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8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9" name="Google Shape;569;p18"/>
          <p:cNvCxnSpPr/>
          <p:nvPr/>
        </p:nvCxnSpPr>
        <p:spPr>
          <a:xfrm>
            <a:off x="11155680" y="228600"/>
            <a:ext cx="0" cy="9144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0" name="Google Shape;570;p18"/>
          <p:cNvCxnSpPr/>
          <p:nvPr/>
        </p:nvCxnSpPr>
        <p:spPr>
          <a:xfrm>
            <a:off x="0" y="6400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1" name="Google Shape;571;p18"/>
          <p:cNvCxnSpPr/>
          <p:nvPr/>
        </p:nvCxnSpPr>
        <p:spPr>
          <a:xfrm>
            <a:off x="1005840" y="6400800"/>
            <a:ext cx="0" cy="457200"/>
          </a:xfrm>
          <a:prstGeom prst="straightConnector1">
            <a:avLst/>
          </a:prstGeom>
          <a:noFill/>
          <a:ln cap="flat" cmpd="sng" w="12700">
            <a:solidFill>
              <a:srgbClr val="27D3EE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2" name="Google Shape;572;p1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cap="flat" cmpd="sng" w="9525">
            <a:solidFill>
              <a:srgbClr val="27D3EE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ssets/hero.png" id="573" name="Google Shape;57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0" y="3566160"/>
            <a:ext cx="3291840" cy="3291840"/>
          </a:xfrm>
          <a:prstGeom prst="rect">
            <a:avLst/>
          </a:prstGeom>
          <a:noFill/>
          <a:ln>
            <a:noFill/>
          </a:ln>
        </p:spPr>
      </p:pic>
      <p:sp>
        <p:nvSpPr>
          <p:cNvPr id="574" name="Google Shape;574;p18"/>
          <p:cNvSpPr/>
          <p:nvPr/>
        </p:nvSpPr>
        <p:spPr>
          <a:xfrm>
            <a:off x="777240" y="237744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6E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3FB6E0"/>
                </a:solidFill>
                <a:latin typeface="Malgun Gothic"/>
                <a:ea typeface="Malgun Gothic"/>
                <a:cs typeface="Malgun Gothic"/>
                <a:sym typeface="Malgun Gothic"/>
              </a:rPr>
              <a:t>THANK YOU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8"/>
          <p:cNvSpPr/>
          <p:nvPr/>
        </p:nvSpPr>
        <p:spPr>
          <a:xfrm>
            <a:off x="749808" y="283464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AFF"/>
              </a:buClr>
              <a:buSzPts val="4600"/>
              <a:buFont typeface="Malgun Gothic"/>
              <a:buNone/>
            </a:pPr>
            <a:r>
              <a:rPr b="1" i="0" lang="en-US" sz="4600" u="none" cap="none" strike="noStrike">
                <a:solidFill>
                  <a:srgbClr val="F5FA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6" name="Google Shape;576;p18"/>
          <p:cNvCxnSpPr/>
          <p:nvPr/>
        </p:nvCxnSpPr>
        <p:spPr>
          <a:xfrm>
            <a:off x="822960" y="3977640"/>
            <a:ext cx="1828800" cy="0"/>
          </a:xfrm>
          <a:prstGeom prst="straightConnector1">
            <a:avLst/>
          </a:prstGeom>
          <a:noFill/>
          <a:ln cap="flat" cmpd="sng" w="31750">
            <a:solidFill>
              <a:srgbClr val="27D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7" name="Google Shape;577;p18"/>
          <p:cNvSpPr/>
          <p:nvPr/>
        </p:nvSpPr>
        <p:spPr>
          <a:xfrm>
            <a:off x="777240" y="416052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E"/>
              </a:buClr>
              <a:buSzPts val="1400"/>
              <a:buFont typeface="Malgun Gothic"/>
              <a:buNone/>
            </a:pPr>
            <a:r>
              <a:rPr b="0" i="0" lang="en-US" sz="1400" u="none" cap="none" strike="noStrike">
                <a:solidFill>
                  <a:srgbClr val="9FB6CE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기반 반도체 웨이퍼 결함 패턴 분류 · Smart Manufacturing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8"/>
          <p:cNvSpPr/>
          <p:nvPr/>
        </p:nvSpPr>
        <p:spPr>
          <a:xfrm>
            <a:off x="777240" y="5440680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FE4F5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6FE4F5"/>
                </a:solidFill>
                <a:latin typeface="Malgun Gothic"/>
                <a:ea typeface="Malgun Gothic"/>
                <a:cs typeface="Malgun Gothic"/>
                <a:sym typeface="Malgun Gothic"/>
              </a:rPr>
              <a:t>CNN · Conv2D · MaxPooling · Dropout · Dense · Focal Loss</a:t>
            </a:r>
            <a:endParaRPr b="1" i="0" sz="1350" u="none" cap="none" strike="noStrike">
              <a:solidFill>
                <a:srgbClr val="6FE4F5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869E"/>
              </a:buClr>
              <a:buSzPts val="13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E869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· Smart Manufacturing · MLflow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한컴오피스">
  <a:themeElements>
    <a:clrScheme name="한컴오피스">
      <a:dk1>
        <a:srgbClr val="000000"/>
      </a:dk1>
      <a:lt1>
        <a:srgbClr val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2026-06-30T02:54:09.000</dcterms:created>
  <dc:creator>EJ</dc:creator>
</cp:coreProperties>
</file>