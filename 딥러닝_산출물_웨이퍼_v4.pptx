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aveSubsetFonts="1" autoCompressPictures="0">
  <p:sldMasterIdLst>
    <p:sldMasterId id="2147483650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  <p:guideLst>
        <p:guide orient="horz" pos="2157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presProps" Target="presProps.xml"  /><Relationship Id="rId22" Type="http://schemas.openxmlformats.org/officeDocument/2006/relationships/viewProps" Target="viewProps.xml"  /><Relationship Id="rId23" Type="http://schemas.openxmlformats.org/officeDocument/2006/relationships/theme" Target="theme/theme1.xml"  /><Relationship Id="rId24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image" Target="../media/image3.png"  /><Relationship Id="rId10" Type="http://schemas.openxmlformats.org/officeDocument/2006/relationships/notesSlide" Target="../notesSlides/notesSlide4.xml"  /><Relationship Id="rId2" Type="http://schemas.openxmlformats.org/officeDocument/2006/relationships/image" Target="../media/image4.png"  /><Relationship Id="rId3" Type="http://schemas.openxmlformats.org/officeDocument/2006/relationships/image" Target="../media/image5.png"  /><Relationship Id="rId4" Type="http://schemas.openxmlformats.org/officeDocument/2006/relationships/image" Target="../media/image6.png"  /><Relationship Id="rId5" Type="http://schemas.openxmlformats.org/officeDocument/2006/relationships/image" Target="../media/image7.png"  /><Relationship Id="rId6" Type="http://schemas.openxmlformats.org/officeDocument/2006/relationships/image" Target="../media/image8.png"  /><Relationship Id="rId7" Type="http://schemas.openxmlformats.org/officeDocument/2006/relationships/image" Target="../media/image9.png"  /><Relationship Id="rId8" Type="http://schemas.openxmlformats.org/officeDocument/2006/relationships/image" Target="../media/image10.png"  /><Relationship Id="rId9" Type="http://schemas.openxmlformats.org/officeDocument/2006/relationships/slideLayout" Target="../slideLayouts/slideLayout1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2.png"  /><Relationship Id="rId4" Type="http://schemas.openxmlformats.org/officeDocument/2006/relationships/image" Target="../media/image13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4.png"  /><Relationship Id="rId4" Type="http://schemas.openxmlformats.org/officeDocument/2006/relationships/image" Target="../media/image15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6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7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8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7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image" Target="../media/image19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pic>
        <p:nvPicPr>
          <p:cNvPr id="11" name="Image 0" descr="assets/her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040880" y="1371600"/>
            <a:ext cx="4206240" cy="4206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315200" y="1645920"/>
            <a:ext cx="3657600" cy="3657600"/>
          </a:xfrm>
          <a:prstGeom prst="ellipse">
            <a:avLst/>
          </a:prstGeom>
          <a:solidFill>
            <a:srgbClr val="27d3ee">
              <a:alpha val="8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77240" y="1371600"/>
            <a:ext cx="64008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 b="1" kern="0" spc="4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SEMICONDUCTOR AI PROJECT</a:t>
            </a:r>
            <a:endParaRPr lang="en-US" sz="1400"/>
          </a:p>
        </p:txBody>
      </p:sp>
      <p:sp>
        <p:nvSpPr>
          <p:cNvPr id="14" name="Shape 11"/>
          <p:cNvSpPr/>
          <p:nvPr/>
        </p:nvSpPr>
        <p:spPr>
          <a:xfrm>
            <a:off x="822960" y="1874520"/>
            <a:ext cx="1463040" cy="0"/>
          </a:xfrm>
          <a:prstGeom prst="line">
            <a:avLst/>
          </a:prstGeom>
          <a:noFill/>
          <a:ln w="31750">
            <a:solidFill>
              <a:srgbClr val="27d3ee"/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9808" y="2057400"/>
            <a:ext cx="6583680" cy="21031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04000"/>
              </a:lnSpc>
              <a:buNone/>
              <a:defRPr/>
            </a:pP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AI 기반 반도체 웨이퍼</a:t>
            </a:r>
            <a:endParaRPr lang="en-US" sz="3800" b="1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04000"/>
              </a:lnSpc>
              <a:buNone/>
              <a:defRPr/>
            </a:pP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결함 패턴 분류 모델</a:t>
            </a:r>
            <a:endParaRPr lang="en-US" sz="3800" b="1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04000"/>
              </a:lnSpc>
              <a:buNone/>
              <a:defRPr/>
            </a:pP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개발 및 시각화</a:t>
            </a:r>
            <a:endParaRPr lang="en-US" sz="3800"/>
          </a:p>
        </p:txBody>
      </p:sp>
      <p:sp>
        <p:nvSpPr>
          <p:cNvPr id="16" name="Text 13"/>
          <p:cNvSpPr/>
          <p:nvPr/>
        </p:nvSpPr>
        <p:spPr>
          <a:xfrm>
            <a:off x="777240" y="4297680"/>
            <a:ext cx="621792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5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반도체 양산 공정 효율화를 위한 CNN 기반</a:t>
            </a:r>
            <a:endParaRPr lang="en-US" sz="1500">
              <a:solidFill>
                <a:srgbClr val="9fb6ce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5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웨이퍼맵 결함 패턴 자동 분류 프로젝트</a:t>
            </a:r>
            <a:endParaRPr lang="en-US" sz="1500"/>
          </a:p>
        </p:txBody>
      </p:sp>
      <p:sp>
        <p:nvSpPr>
          <p:cNvPr id="17" name="Shape 14"/>
          <p:cNvSpPr/>
          <p:nvPr/>
        </p:nvSpPr>
        <p:spPr>
          <a:xfrm>
            <a:off x="822960" y="5257800"/>
            <a:ext cx="1463040" cy="0"/>
          </a:xfrm>
          <a:prstGeom prst="line">
            <a:avLst/>
          </a:prstGeom>
          <a:noFill/>
          <a:ln w="19050">
            <a:solidFill>
              <a:srgbClr val="27d3ee">
                <a:alpha val="7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777240" y="5440680"/>
            <a:ext cx="640080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40000"/>
              </a:lnSpc>
              <a:buNone/>
              <a:defRPr/>
            </a:pPr>
            <a:r>
              <a:rPr lang="ko-KR" altLang="en-US" sz="1350" b="1">
                <a:solidFill>
                  <a:srgbClr val="6fe4f5"/>
                </a:solidFill>
                <a:latin typeface="맑은 고딕"/>
                <a:ea typeface="맑은 고딕"/>
                <a:cs typeface="맑은 고딕"/>
              </a:rPr>
              <a:t>이은주</a:t>
            </a:r>
            <a:endParaRPr lang="ko-KR" altLang="en-US" sz="1350" b="1">
              <a:solidFill>
                <a:srgbClr val="6fe4f5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40000"/>
              </a:lnSpc>
              <a:buNone/>
              <a:defRPr/>
            </a:pPr>
            <a:r>
              <a:rPr lang="en-US" sz="135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2026</a:t>
            </a:r>
            <a:r>
              <a:rPr lang="en-US" altLang="ko-KR" sz="135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.07.01</a:t>
            </a:r>
            <a:endParaRPr lang="en-US" altLang="ko-KR" sz="1350">
              <a:solidFill>
                <a:srgbClr val="6e869e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6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— 모델링 파이프라인 순서</a:t>
            </a:r>
            <a:endParaRPr lang="en-US" sz="2900" dirty="0"/>
          </a:p>
        </p:txBody>
      </p:sp>
      <p:sp>
        <p:nvSpPr>
          <p:cNvPr id="14" name="Shape 12"/>
          <p:cNvSpPr/>
          <p:nvPr/>
        </p:nvSpPr>
        <p:spPr>
          <a:xfrm>
            <a:off x="640080" y="160020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1600200"/>
            <a:ext cx="8229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1691640" y="1801368"/>
            <a:ext cx="0" cy="585216"/>
          </a:xfrm>
          <a:prstGeom prst="line">
            <a:avLst/>
          </a:prstGeom>
          <a:noFill/>
          <a:ln w="12700">
            <a:solidFill>
              <a:srgbClr val="2149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74520" y="1746504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 · 문제 정의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874520" y="213055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Automated Classification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60020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1600200"/>
            <a:ext cx="8229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7360920" y="1801368"/>
            <a:ext cx="0" cy="585216"/>
          </a:xfrm>
          <a:prstGeom prst="line">
            <a:avLst/>
          </a:prstGeom>
          <a:noFill/>
          <a:ln w="12700">
            <a:solidFill>
              <a:srgbClr val="2149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43800" y="1746504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데이터셋 · 결함 패턴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543800" y="213055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WM-811K Wafer Map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277063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2770632"/>
            <a:ext cx="8229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1691640" y="2971800"/>
            <a:ext cx="0" cy="585216"/>
          </a:xfrm>
          <a:prstGeom prst="line">
            <a:avLst/>
          </a:prstGeom>
          <a:noFill/>
          <a:ln w="12700">
            <a:solidFill>
              <a:srgbClr val="2149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74520" y="2916936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전처리 · EDA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874520" y="3300984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Imbalance · Resize · Encoding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77063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92240" y="2770632"/>
            <a:ext cx="8229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7360920" y="2971800"/>
            <a:ext cx="0" cy="585216"/>
          </a:xfrm>
          <a:prstGeom prst="line">
            <a:avLst/>
          </a:prstGeom>
          <a:noFill/>
          <a:ln w="12700">
            <a:solidFill>
              <a:srgbClr val="2149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43800" y="2916936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 모델 설계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7543800" y="3300984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Conv2D Architecture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3941064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22960" y="3941064"/>
            <a:ext cx="8229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600" dirty="0"/>
          </a:p>
        </p:txBody>
      </p:sp>
      <p:sp>
        <p:nvSpPr>
          <p:cNvPr id="36" name="Shape 34"/>
          <p:cNvSpPr/>
          <p:nvPr/>
        </p:nvSpPr>
        <p:spPr>
          <a:xfrm>
            <a:off x="1691640" y="4142232"/>
            <a:ext cx="0" cy="585216"/>
          </a:xfrm>
          <a:prstGeom prst="line">
            <a:avLst/>
          </a:prstGeom>
          <a:noFill/>
          <a:ln w="12700">
            <a:solidFill>
              <a:srgbClr val="2149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74520" y="408736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· 실험 관리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1874520" y="4471416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Focal Loss · EarlyStopping · MLflow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3941064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492240" y="3941064"/>
            <a:ext cx="8229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600" dirty="0"/>
          </a:p>
        </p:txBody>
      </p:sp>
      <p:sp>
        <p:nvSpPr>
          <p:cNvPr id="41" name="Shape 39"/>
          <p:cNvSpPr/>
          <p:nvPr/>
        </p:nvSpPr>
        <p:spPr>
          <a:xfrm>
            <a:off x="7360920" y="4142232"/>
            <a:ext cx="0" cy="585216"/>
          </a:xfrm>
          <a:prstGeom prst="line">
            <a:avLst/>
          </a:prstGeom>
          <a:noFill/>
          <a:ln w="12700">
            <a:solidFill>
              <a:srgbClr val="2149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43800" y="408736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평가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7543800" y="4471416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Accuracy · Macro-F1 · Recall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0080" y="511149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822960" y="5111496"/>
            <a:ext cx="8229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600" dirty="0"/>
          </a:p>
        </p:txBody>
      </p:sp>
      <p:sp>
        <p:nvSpPr>
          <p:cNvPr id="46" name="Shape 44"/>
          <p:cNvSpPr/>
          <p:nvPr/>
        </p:nvSpPr>
        <p:spPr>
          <a:xfrm>
            <a:off x="1691640" y="5312664"/>
            <a:ext cx="0" cy="585216"/>
          </a:xfrm>
          <a:prstGeom prst="line">
            <a:avLst/>
          </a:prstGeom>
          <a:noFill/>
          <a:ln w="12700">
            <a:solidFill>
              <a:srgbClr val="21496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74520" y="5257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시각화 · 배포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1874520" y="5641848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App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309360" y="511149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492240" y="5111496"/>
            <a:ext cx="8229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600" dirty="0"/>
          </a:p>
        </p:txBody>
      </p:sp>
      <p:sp>
        <p:nvSpPr>
          <p:cNvPr id="51" name="Shape 49"/>
          <p:cNvSpPr/>
          <p:nvPr/>
        </p:nvSpPr>
        <p:spPr>
          <a:xfrm>
            <a:off x="7360920" y="5312664"/>
            <a:ext cx="0" cy="585216"/>
          </a:xfrm>
          <a:prstGeom prst="line">
            <a:avLst/>
          </a:prstGeom>
          <a:noFill/>
          <a:ln w="12700">
            <a:solidFill>
              <a:srgbClr val="21496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43800" y="5257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· 활용 방안</a:t>
            </a:r>
            <a:endParaRPr lang="en-US" sz="1550" dirty="0"/>
          </a:p>
        </p:txBody>
      </p:sp>
      <p:sp>
        <p:nvSpPr>
          <p:cNvPr id="53" name="Text 51"/>
          <p:cNvSpPr/>
          <p:nvPr/>
        </p:nvSpPr>
        <p:spPr>
          <a:xfrm>
            <a:off x="7543800" y="5641848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Manufacturing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01  PROBLEM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문제 정의 및 자동 분류의 필요성</a:t>
            </a:r>
            <a:endParaRPr lang="en-US" sz="2900"/>
          </a:p>
        </p:txBody>
      </p:sp>
      <p:sp>
        <p:nvSpPr>
          <p:cNvPr id="14" name="Text 12"/>
          <p:cNvSpPr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기존 방식의 한계</a:t>
            </a:r>
            <a:endParaRPr lang="en-US" sz="1600"/>
          </a:p>
        </p:txBody>
      </p:sp>
      <p:sp>
        <p:nvSpPr>
          <p:cNvPr id="15" name="Shape 13"/>
          <p:cNvSpPr/>
          <p:nvPr/>
        </p:nvSpPr>
        <p:spPr>
          <a:xfrm>
            <a:off x="640080" y="1920240"/>
            <a:ext cx="4937760" cy="1143000"/>
          </a:xfrm>
          <a:prstGeom prst="roundRect">
            <a:avLst>
              <a:gd name="adj" fmla="val 72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40080" y="1920240"/>
            <a:ext cx="91440" cy="1143000"/>
          </a:xfrm>
          <a:prstGeom prst="roundRect">
            <a:avLst>
              <a:gd name="adj" fmla="val 30000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14400" y="2084832"/>
            <a:ext cx="4572000" cy="38404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긴 판독 시간</a:t>
            </a:r>
            <a:endParaRPr lang="en-US" sz="1600"/>
          </a:p>
        </p:txBody>
      </p:sp>
      <p:sp>
        <p:nvSpPr>
          <p:cNvPr id="18" name="Text 16"/>
          <p:cNvSpPr/>
          <p:nvPr/>
        </p:nvSpPr>
        <p:spPr>
          <a:xfrm>
            <a:off x="914400" y="2487168"/>
            <a:ext cx="448056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25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웨이퍼 수량 증가에 따라 육안 검토 시간이 선형적으로 증가</a:t>
            </a:r>
            <a:endParaRPr lang="en-US" sz="1250"/>
          </a:p>
        </p:txBody>
      </p:sp>
      <p:sp>
        <p:nvSpPr>
          <p:cNvPr id="19" name="Shape 17"/>
          <p:cNvSpPr/>
          <p:nvPr/>
        </p:nvSpPr>
        <p:spPr>
          <a:xfrm>
            <a:off x="640080" y="3246120"/>
            <a:ext cx="4937760" cy="1143000"/>
          </a:xfrm>
          <a:prstGeom prst="roundRect">
            <a:avLst>
              <a:gd name="adj" fmla="val 72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40080" y="3246120"/>
            <a:ext cx="91440" cy="1143000"/>
          </a:xfrm>
          <a:prstGeom prst="roundRect">
            <a:avLst>
              <a:gd name="adj" fmla="val 30000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14400" y="3410712"/>
            <a:ext cx="4572000" cy="38404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주관적 판단 기준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914400" y="3813048"/>
            <a:ext cx="466344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25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담당 엔지니어 경험·숙련도에 따라 분류 결과가 달라질 수 있음</a:t>
            </a:r>
            <a:endParaRPr lang="en-US" sz="1250"/>
          </a:p>
        </p:txBody>
      </p:sp>
      <p:sp>
        <p:nvSpPr>
          <p:cNvPr id="23" name="Shape 21"/>
          <p:cNvSpPr/>
          <p:nvPr/>
        </p:nvSpPr>
        <p:spPr>
          <a:xfrm>
            <a:off x="640080" y="4572000"/>
            <a:ext cx="4937760" cy="1143000"/>
          </a:xfrm>
          <a:prstGeom prst="roundRect">
            <a:avLst>
              <a:gd name="adj" fmla="val 72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0080" y="4572000"/>
            <a:ext cx="91440" cy="1143000"/>
          </a:xfrm>
          <a:prstGeom prst="roundRect">
            <a:avLst>
              <a:gd name="adj" fmla="val 30000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914400" y="4736592"/>
            <a:ext cx="4572000" cy="38404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조기 감지 지연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>
          <a:xfrm>
            <a:off x="914400" y="5138928"/>
            <a:ext cx="448056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25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이상 패턴 인지가 늦어지면 수율 손실·품질 이슈가 확대</a:t>
            </a:r>
            <a:endParaRPr lang="en-US" sz="1250"/>
          </a:p>
        </p:txBody>
      </p:sp>
      <p:sp>
        <p:nvSpPr>
          <p:cNvPr id="27" name="Shape 25"/>
          <p:cNvSpPr/>
          <p:nvPr/>
        </p:nvSpPr>
        <p:spPr>
          <a:xfrm>
            <a:off x="5989320" y="1920240"/>
            <a:ext cx="5532120" cy="3931920"/>
          </a:xfrm>
          <a:prstGeom prst="roundRect">
            <a:avLst>
              <a:gd name="adj" fmla="val 2093"/>
            </a:avLst>
          </a:prstGeom>
          <a:solidFill>
            <a:srgbClr val="16304e"/>
          </a:solidFill>
          <a:ln w="20320">
            <a:solidFill>
              <a:srgbClr val="27d3e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pic>
        <p:nvPicPr>
          <p:cNvPr id="28" name="Image 0" descr="assets/w_Center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138160" y="2148840"/>
            <a:ext cx="1188720" cy="118872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172200" y="3429000"/>
            <a:ext cx="5120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CNN 기반 웨이퍼맵 자동 분류</a:t>
            </a:r>
            <a:endParaRPr lang="en-US" sz="1900"/>
          </a:p>
        </p:txBody>
      </p:sp>
      <p:sp>
        <p:nvSpPr>
          <p:cNvPr id="30" name="Text 27"/>
          <p:cNvSpPr/>
          <p:nvPr/>
        </p:nvSpPr>
        <p:spPr>
          <a:xfrm>
            <a:off x="6400800" y="4023360"/>
            <a:ext cx="4937760" cy="11887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342900" indent="-342900">
              <a:lnSpc>
                <a:spcPct val="150000"/>
              </a:lnSpc>
              <a:buSzPct val="100000"/>
              <a:buChar char="→"/>
              <a:defRPr/>
            </a:pPr>
            <a:r>
              <a:rPr lang="en-US" sz="13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공간 패턴의 일관된 기계적 학습 및 분류</a:t>
            </a:r>
            <a:endParaRPr lang="en-US" sz="135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50000"/>
              </a:lnSpc>
              <a:buSzPct val="100000"/>
              <a:buChar char="→"/>
              <a:defRPr/>
            </a:pPr>
            <a:r>
              <a:rPr lang="en-US" sz="13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엔지니어 판독 의존도 감소 · 업무 집중도 향상</a:t>
            </a:r>
            <a:endParaRPr lang="en-US" sz="135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50000"/>
              </a:lnSpc>
              <a:buSzPct val="100000"/>
              <a:buChar char="→"/>
              <a:defRPr/>
            </a:pPr>
            <a:r>
              <a:rPr lang="en-US" sz="13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공정 이상 조기 신호 포착으로 수율 보호</a:t>
            </a:r>
            <a:endParaRPr lang="en-US" sz="1350"/>
          </a:p>
        </p:txBody>
      </p:sp>
      <p:sp>
        <p:nvSpPr>
          <p:cNvPr id="31" name="Shape 28"/>
          <p:cNvSpPr/>
          <p:nvPr/>
        </p:nvSpPr>
        <p:spPr>
          <a:xfrm>
            <a:off x="7844790" y="5349240"/>
            <a:ext cx="1943452" cy="384048"/>
          </a:xfrm>
          <a:prstGeom prst="roundRect">
            <a:avLst>
              <a:gd name="adj" fmla="val 47619"/>
            </a:avLst>
          </a:prstGeom>
          <a:solidFill>
            <a:srgbClr val="27d3ee">
              <a:alpha val="22000"/>
            </a:srgbClr>
          </a:solidFill>
          <a:ln w="1270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7863840" y="5349240"/>
            <a:ext cx="1943452" cy="38404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50" b="1">
                <a:solidFill>
                  <a:srgbClr val="6fe4f5"/>
                </a:solidFill>
                <a:latin typeface="맑은 고딕"/>
                <a:ea typeface="맑은 고딕"/>
                <a:cs typeface="맑은 고딕"/>
              </a:rPr>
              <a:t>8가지 결함 패턴 자동 인식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6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DATASET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웨이퍼맵 결함 패턴 개요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6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WM-811K — 실제 FAB 웨이퍼맵 · 8가지 주요 결함 클래스 (공간 패턴 = 공정 이상 신호)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1828800"/>
            <a:ext cx="2606040" cy="2057400"/>
          </a:xfrm>
          <a:prstGeom prst="roundRect">
            <a:avLst>
              <a:gd name="adj" fmla="val 40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pic>
        <p:nvPicPr>
          <p:cNvPr id="16" name="Image 0" descr="assets/w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993392"/>
            <a:ext cx="1051560" cy="105156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40080" y="30632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Center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77240" y="3419856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공정 조건 / 온도 균일도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429000" y="1828800"/>
            <a:ext cx="2606040" cy="2057400"/>
          </a:xfrm>
          <a:prstGeom prst="roundRect">
            <a:avLst>
              <a:gd name="adj" fmla="val 40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pic>
        <p:nvPicPr>
          <p:cNvPr id="20" name="Image 1" descr="assets/w_Don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993392"/>
            <a:ext cx="1051560" cy="10515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429000" y="30632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Donut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3566160" y="3419856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반경 방향 공정 균일도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217920" y="1828800"/>
            <a:ext cx="2606040" cy="2057400"/>
          </a:xfrm>
          <a:prstGeom prst="roundRect">
            <a:avLst>
              <a:gd name="adj" fmla="val 40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pic>
        <p:nvPicPr>
          <p:cNvPr id="24" name="Image 2" descr="assets/w_Edge-R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993392"/>
            <a:ext cx="1051560" cy="10515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217920" y="30632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Edge-Ring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355080" y="3419856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엣지 공정 조건 / 핸들링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9006840" y="1828800"/>
            <a:ext cx="2606040" cy="2057400"/>
          </a:xfrm>
          <a:prstGeom prst="roundRect">
            <a:avLst>
              <a:gd name="adj" fmla="val 40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pic>
        <p:nvPicPr>
          <p:cNvPr id="28" name="Image 3" descr="assets/w_Edge-Lo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1993392"/>
            <a:ext cx="1051560" cy="105156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006840" y="30632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Edge-Loc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9144000" y="3419856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국부 장비 접촉 / 포지셔닝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40080" y="4069080"/>
            <a:ext cx="2606040" cy="2057400"/>
          </a:xfrm>
          <a:prstGeom prst="roundRect">
            <a:avLst>
              <a:gd name="adj" fmla="val 40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pic>
        <p:nvPicPr>
          <p:cNvPr id="32" name="Image 4" descr="assets/w_Scrat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4233672"/>
            <a:ext cx="1051560" cy="105156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640080" y="53035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Scratch</a:t>
            </a:r>
            <a:endParaRPr lang="en-US" sz="1500" dirty="0"/>
          </a:p>
        </p:txBody>
      </p:sp>
      <p:sp>
        <p:nvSpPr>
          <p:cNvPr id="34" name="Text 27"/>
          <p:cNvSpPr/>
          <p:nvPr/>
        </p:nvSpPr>
        <p:spPr>
          <a:xfrm>
            <a:off x="777240" y="5660136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스크래치 / 이송 접촉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3429000" y="4069080"/>
            <a:ext cx="2606040" cy="2057400"/>
          </a:xfrm>
          <a:prstGeom prst="roundRect">
            <a:avLst>
              <a:gd name="adj" fmla="val 40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pic>
        <p:nvPicPr>
          <p:cNvPr id="36" name="Image 5" descr="assets/w_Lo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4233672"/>
            <a:ext cx="1051560" cy="105156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3429000" y="53035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3566160" y="5660136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파티클 / 국부 공정 편차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6217920" y="4069080"/>
            <a:ext cx="2606040" cy="2057400"/>
          </a:xfrm>
          <a:prstGeom prst="roundRect">
            <a:avLst>
              <a:gd name="adj" fmla="val 40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pic>
        <p:nvPicPr>
          <p:cNvPr id="40" name="Image 6" descr="assets/w_Near-ful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5160" y="4233672"/>
            <a:ext cx="1051560" cy="105156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217920" y="53035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Near-full</a:t>
            </a:r>
            <a:endParaRPr lang="en-US" sz="1500" dirty="0"/>
          </a:p>
        </p:txBody>
      </p:sp>
      <p:sp>
        <p:nvSpPr>
          <p:cNvPr id="42" name="Text 33"/>
          <p:cNvSpPr/>
          <p:nvPr/>
        </p:nvSpPr>
        <p:spPr>
          <a:xfrm>
            <a:off x="6355080" y="5660136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공정 실패 / 레시피 오류</a:t>
            </a:r>
            <a:endParaRPr lang="en-US" sz="1050" dirty="0"/>
          </a:p>
        </p:txBody>
      </p:sp>
      <p:sp>
        <p:nvSpPr>
          <p:cNvPr id="43" name="Shape 34"/>
          <p:cNvSpPr/>
          <p:nvPr/>
        </p:nvSpPr>
        <p:spPr>
          <a:xfrm>
            <a:off x="9006840" y="4069080"/>
            <a:ext cx="2606040" cy="2057400"/>
          </a:xfrm>
          <a:prstGeom prst="roundRect">
            <a:avLst>
              <a:gd name="adj" fmla="val 40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pic>
        <p:nvPicPr>
          <p:cNvPr id="44" name="Image 7" descr="assets/w_Random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84080" y="4233672"/>
            <a:ext cx="1051560" cy="105156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9006840" y="53035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</a:t>
            </a:r>
            <a:endParaRPr lang="en-US" sz="1500" dirty="0"/>
          </a:p>
        </p:txBody>
      </p:sp>
      <p:sp>
        <p:nvSpPr>
          <p:cNvPr id="46" name="Text 36"/>
          <p:cNvSpPr/>
          <p:nvPr/>
        </p:nvSpPr>
        <p:spPr>
          <a:xfrm>
            <a:off x="9144000" y="5660136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확률적 노이즈성 불량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altLang="ko-KR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  </a:t>
            </a:r>
            <a:r>
              <a:rPr lang="en-US" altLang="ko-KR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PREPROCESSING</a:t>
            </a:r>
            <a:endParaRPr lang="en-US" altLang="ko-KR" sz="1200" b="1" kern="0" spc="300">
              <a:solidFill>
                <a:srgbClr val="3fb6e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ko-KR" alt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데이터 전처리 및 </a:t>
            </a:r>
            <a:r>
              <a:rPr lang="en-US" altLang="ko-KR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EDA</a:t>
            </a:r>
            <a:endParaRPr lang="en-US" altLang="ko-KR" sz="2900" b="1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ko-KR" altLang="en-US" sz="1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클래스별 샘플 웨이퍼맵 시각화</a:t>
            </a:r>
            <a:endParaRPr lang="ko-KR" altLang="en-US" sz="1300">
              <a:solidFill>
                <a:srgbClr val="3fb6e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47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54933" y="1691640"/>
            <a:ext cx="7681828" cy="4548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03  PREPROCESSING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데이터 전처리 및 EDA</a:t>
            </a:r>
            <a:endParaRPr lang="en-US" sz="2900"/>
          </a:p>
        </p:txBody>
      </p:sp>
      <p:sp>
        <p:nvSpPr>
          <p:cNvPr id="14" name="Shape 12"/>
          <p:cNvSpPr/>
          <p:nvPr/>
        </p:nvSpPr>
        <p:spPr>
          <a:xfrm>
            <a:off x="640080" y="1508760"/>
            <a:ext cx="5212080" cy="4206240"/>
          </a:xfrm>
          <a:prstGeom prst="roundRect">
            <a:avLst>
              <a:gd name="adj" fmla="val 1957"/>
            </a:avLst>
          </a:prstGeom>
          <a:solidFill>
            <a:srgbClr val="16304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68680" y="1691640"/>
            <a:ext cx="4572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핵심 이슈 — 클래스 불균형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868680" y="2025015"/>
            <a:ext cx="4846320" cy="11887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정상(none) </a:t>
            </a:r>
            <a:r>
              <a:rPr lang="en-US" sz="14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약 </a:t>
            </a:r>
            <a:r>
              <a:rPr lang="en-US" sz="1400" b="1">
                <a:solidFill>
                  <a:srgbClr val="39bbe7"/>
                </a:solidFill>
                <a:latin typeface="맑은 고딕"/>
                <a:ea typeface="맑은 고딕"/>
                <a:cs typeface="맑은 고딕"/>
              </a:rPr>
              <a:t>8</a:t>
            </a:r>
            <a:r>
              <a:rPr lang="en-US" sz="14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6%</a:t>
            </a:r>
            <a:endParaRPr lang="en-US" sz="1400" b="1">
              <a:solidFill>
                <a:srgbClr val="27d3ee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30000"/>
              </a:lnSpc>
              <a:buNone/>
              <a:defRPr/>
            </a:pPr>
            <a:r>
              <a:rPr lang="en-US" sz="14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결함 8종 합계 </a:t>
            </a:r>
            <a:r>
              <a:rPr lang="en-US" sz="14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약 14%</a:t>
            </a:r>
            <a:endParaRPr lang="en-US" sz="1400" b="1">
              <a:solidFill>
                <a:srgbClr val="27d3ee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30000"/>
              </a:lnSpc>
              <a:buNone/>
              <a:defRPr/>
            </a:pPr>
            <a:r>
              <a:rPr lang="en-US" sz="14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→ 정확도(accuracy)만으로는 </a:t>
            </a:r>
            <a:r>
              <a:rPr lang="en-US" sz="1400" b="1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성능 왜곡</a:t>
            </a:r>
            <a:endParaRPr lang="en-US" sz="1400" b="1">
              <a:solidFill>
                <a:srgbClr val="9fb6c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68680" y="3383280"/>
            <a:ext cx="4754880" cy="0"/>
          </a:xfrm>
          <a:prstGeom prst="line">
            <a:avLst/>
          </a:prstGeom>
          <a:noFill/>
          <a:ln w="12700">
            <a:solidFill>
              <a:srgbClr val="21496e"/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080760" y="15087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309360" y="1691640"/>
            <a:ext cx="4572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ko-KR" altLang="en-US" sz="16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대응 전략</a:t>
            </a:r>
            <a:endParaRPr lang="ko-KR" altLang="en-US" sz="1600" b="1">
              <a:solidFill>
                <a:srgbClr val="3fb6e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09360" y="2194560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endParaRPr lang="en-US" sz="1700" b="1">
              <a:solidFill>
                <a:srgbClr val="27d3ee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38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91688" y="3520440"/>
            <a:ext cx="4108863" cy="2028426"/>
          </a:xfrm>
          <a:prstGeom prst="rect">
            <a:avLst/>
          </a:prstGeom>
        </p:spPr>
      </p:pic>
      <p:sp>
        <p:nvSpPr>
          <p:cNvPr id="19" name="Text 17"/>
          <p:cNvSpPr/>
          <p:nvPr/>
        </p:nvSpPr>
        <p:spPr>
          <a:xfrm>
            <a:off x="6309360" y="1889760"/>
            <a:ext cx="5065395" cy="13716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40000"/>
              </a:lnSpc>
              <a:buSzPct val="100000"/>
              <a:buNone/>
              <a:defRPr/>
            </a:pP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라벨 미검토(</a:t>
            </a:r>
            <a:r>
              <a:rPr lang="en-US" sz="1250" b="1">
                <a:solidFill>
                  <a:srgbClr val="39bbe7"/>
                </a:solidFill>
                <a:latin typeface="맑은 고딕"/>
                <a:ea typeface="맑은 고딕"/>
                <a:cs typeface="맑은 고딕"/>
              </a:rPr>
              <a:t>unlabeled</a:t>
            </a: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) </a:t>
            </a:r>
            <a:r>
              <a:rPr lang="en-US" sz="1250" b="1">
                <a:solidFill>
                  <a:srgbClr val="39bbe7"/>
                </a:solidFill>
                <a:latin typeface="맑은 고딕"/>
                <a:ea typeface="맑은 고딕"/>
                <a:cs typeface="맑은 고딕"/>
              </a:rPr>
              <a:t>행 제외</a:t>
            </a: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 — '정상'과 구분</a:t>
            </a:r>
            <a:endParaRPr lang="en-US" sz="125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40000"/>
              </a:lnSpc>
              <a:buSzPct val="100000"/>
              <a:buNone/>
              <a:defRPr/>
            </a:pP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CAP_NONE — </a:t>
            </a:r>
            <a:r>
              <a:rPr lang="en-US" sz="1250" b="1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정상 클래스 </a:t>
            </a:r>
            <a:r>
              <a:rPr lang="en-US" altLang="ko-KR" sz="1250" b="1">
                <a:solidFill>
                  <a:srgbClr val="39bbe7"/>
                </a:solidFill>
                <a:latin typeface="맑은 고딕"/>
                <a:ea typeface="맑은 고딕"/>
                <a:cs typeface="맑은 고딕"/>
              </a:rPr>
              <a:t>20000</a:t>
            </a:r>
            <a:r>
              <a:rPr lang="ko-KR" altLang="en-US" sz="1250" b="1">
                <a:solidFill>
                  <a:srgbClr val="39bbe7"/>
                </a:solidFill>
                <a:latin typeface="맑은 고딕"/>
                <a:ea typeface="맑은 고딕"/>
                <a:cs typeface="맑은 고딕"/>
              </a:rPr>
              <a:t>으로 </a:t>
            </a:r>
            <a:r>
              <a:rPr lang="en-US" sz="1250" b="1">
                <a:solidFill>
                  <a:srgbClr val="39bbe7"/>
                </a:solidFill>
                <a:latin typeface="맑은 고딕"/>
                <a:ea typeface="맑은 고딕"/>
                <a:cs typeface="맑은 고딕"/>
              </a:rPr>
              <a:t>상한</a:t>
            </a: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, 결함은 전부 유지</a:t>
            </a:r>
            <a:endParaRPr lang="en-US" sz="125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40000"/>
              </a:lnSpc>
              <a:buSzPct val="100000"/>
              <a:buNone/>
              <a:defRPr/>
            </a:pPr>
            <a:r>
              <a:rPr lang="en-US" sz="1250" b="1">
                <a:solidFill>
                  <a:srgbClr val="39bbe7"/>
                </a:solidFill>
                <a:latin typeface="맑은 고딕"/>
                <a:ea typeface="맑은 고딕"/>
                <a:cs typeface="맑은 고딕"/>
              </a:rPr>
              <a:t>Focal Loss</a:t>
            </a: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로 불균형 보정 (학습 단계)</a:t>
            </a:r>
            <a:r>
              <a:rPr lang="ko-KR" alt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lang="ko-KR" alt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250" b="1">
                <a:solidFill>
                  <a:srgbClr val="39bbe7"/>
                </a:solidFill>
                <a:latin typeface="맑은 고딕"/>
                <a:ea typeface="맑은 고딕"/>
                <a:cs typeface="맑은 고딕"/>
              </a:rPr>
              <a:t>GAMMA</a:t>
            </a:r>
            <a:r>
              <a:rPr lang="en-US" altLang="ko-KR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값 </a:t>
            </a:r>
            <a:r>
              <a:rPr lang="en-US" altLang="ko-KR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2.0</a:t>
            </a:r>
            <a:r>
              <a:rPr lang="ko-KR" alt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-&gt;</a:t>
            </a:r>
            <a:r>
              <a:rPr lang="ko-KR" alt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250" b="1">
                <a:solidFill>
                  <a:srgbClr val="39bbe7"/>
                </a:solidFill>
                <a:latin typeface="맑은 고딕"/>
                <a:ea typeface="맑은 고딕"/>
                <a:cs typeface="맑은 고딕"/>
              </a:rPr>
              <a:t>3.0</a:t>
            </a:r>
            <a:endParaRPr lang="en-US" altLang="ko-KR" sz="1250" b="1">
              <a:solidFill>
                <a:srgbClr val="39bbe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40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787627" y="3520440"/>
            <a:ext cx="4108862" cy="20284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03  PREPROCESSING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데이터 전처리 및 EDA</a:t>
            </a:r>
            <a:endParaRPr lang="en-US" sz="2900"/>
          </a:p>
        </p:txBody>
      </p:sp>
      <p:sp>
        <p:nvSpPr>
          <p:cNvPr id="14" name="Shape 12"/>
          <p:cNvSpPr/>
          <p:nvPr/>
        </p:nvSpPr>
        <p:spPr>
          <a:xfrm>
            <a:off x="640080" y="1508760"/>
            <a:ext cx="5212080" cy="4206240"/>
          </a:xfrm>
          <a:prstGeom prst="roundRect">
            <a:avLst>
              <a:gd name="adj" fmla="val 1957"/>
            </a:avLst>
          </a:prstGeom>
          <a:solidFill>
            <a:srgbClr val="16304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080760" y="15087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309360" y="1691640"/>
            <a:ext cx="4572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전처리 파이프라인</a:t>
            </a:r>
            <a:endParaRPr lang="en-US" sz="1600"/>
          </a:p>
        </p:txBody>
      </p:sp>
      <p:sp>
        <p:nvSpPr>
          <p:cNvPr id="22" name="Shape 20"/>
          <p:cNvSpPr/>
          <p:nvPr/>
        </p:nvSpPr>
        <p:spPr>
          <a:xfrm>
            <a:off x="6309360" y="21945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309360" y="2194560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1</a:t>
            </a:r>
            <a:endParaRPr lang="en-US" sz="1700"/>
          </a:p>
        </p:txBody>
      </p:sp>
      <p:sp>
        <p:nvSpPr>
          <p:cNvPr id="24" name="Text 22"/>
          <p:cNvSpPr/>
          <p:nvPr/>
        </p:nvSpPr>
        <p:spPr>
          <a:xfrm>
            <a:off x="6995160" y="2176272"/>
            <a:ext cx="4389120" cy="34747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웨이퍼맵 리사이즈</a:t>
            </a:r>
            <a:endParaRPr lang="en-US" sz="1400"/>
          </a:p>
        </p:txBody>
      </p:sp>
      <p:sp>
        <p:nvSpPr>
          <p:cNvPr id="25" name="Text 23"/>
          <p:cNvSpPr/>
          <p:nvPr/>
        </p:nvSpPr>
        <p:spPr>
          <a:xfrm>
            <a:off x="6995160" y="2505456"/>
            <a:ext cx="43891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가변 크기 → 128×128 (최근접 보간, 0/1/2 값 보존)</a:t>
            </a:r>
            <a:endParaRPr lang="en-US" sz="1100"/>
          </a:p>
        </p:txBody>
      </p:sp>
      <p:sp>
        <p:nvSpPr>
          <p:cNvPr id="26" name="Shape 24"/>
          <p:cNvSpPr/>
          <p:nvPr/>
        </p:nvSpPr>
        <p:spPr>
          <a:xfrm>
            <a:off x="6309360" y="3044952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309360" y="3044952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lang="en-US" sz="1700"/>
          </a:p>
        </p:txBody>
      </p:sp>
      <p:sp>
        <p:nvSpPr>
          <p:cNvPr id="28" name="Text 26"/>
          <p:cNvSpPr/>
          <p:nvPr/>
        </p:nvSpPr>
        <p:spPr>
          <a:xfrm>
            <a:off x="6995160" y="3026664"/>
            <a:ext cx="4389120" cy="34747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정규화</a:t>
            </a:r>
            <a:endParaRPr lang="en-US" sz="1400"/>
          </a:p>
        </p:txBody>
      </p:sp>
      <p:sp>
        <p:nvSpPr>
          <p:cNvPr id="29" name="Text 27"/>
          <p:cNvSpPr/>
          <p:nvPr/>
        </p:nvSpPr>
        <p:spPr>
          <a:xfrm>
            <a:off x="6995160" y="3355848"/>
            <a:ext cx="43891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Rescaling(1/2) — 0/1/2 값을 0~1 범위로</a:t>
            </a:r>
            <a:endParaRPr lang="en-US" sz="1100"/>
          </a:p>
        </p:txBody>
      </p:sp>
      <p:sp>
        <p:nvSpPr>
          <p:cNvPr id="30" name="Shape 28"/>
          <p:cNvSpPr/>
          <p:nvPr/>
        </p:nvSpPr>
        <p:spPr>
          <a:xfrm>
            <a:off x="6309360" y="389534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309360" y="3895344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lang="en-US" sz="1700"/>
          </a:p>
        </p:txBody>
      </p:sp>
      <p:sp>
        <p:nvSpPr>
          <p:cNvPr id="32" name="Text 30"/>
          <p:cNvSpPr/>
          <p:nvPr/>
        </p:nvSpPr>
        <p:spPr>
          <a:xfrm>
            <a:off x="6995160" y="3877056"/>
            <a:ext cx="4389120" cy="34747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라벨 인코딩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6995160" y="4206240"/>
            <a:ext cx="43891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LabelEncoder → one-hot (Focal Loss용)</a:t>
            </a:r>
            <a:endParaRPr lang="en-US" sz="1100"/>
          </a:p>
        </p:txBody>
      </p:sp>
      <p:sp>
        <p:nvSpPr>
          <p:cNvPr id="34" name="Shape 32"/>
          <p:cNvSpPr/>
          <p:nvPr/>
        </p:nvSpPr>
        <p:spPr>
          <a:xfrm>
            <a:off x="6309360" y="4745736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6309360" y="4745736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lang="en-US" sz="1700"/>
          </a:p>
        </p:txBody>
      </p:sp>
      <p:sp>
        <p:nvSpPr>
          <p:cNvPr id="36" name="Text 34"/>
          <p:cNvSpPr/>
          <p:nvPr/>
        </p:nvSpPr>
        <p:spPr>
          <a:xfrm>
            <a:off x="6995160" y="4727448"/>
            <a:ext cx="4389120" cy="34747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학습/테스트 분리</a:t>
            </a:r>
            <a:endParaRPr lang="en-US" sz="1400"/>
          </a:p>
        </p:txBody>
      </p:sp>
      <p:sp>
        <p:nvSpPr>
          <p:cNvPr id="37" name="Text 35"/>
          <p:cNvSpPr/>
          <p:nvPr/>
        </p:nvSpPr>
        <p:spPr>
          <a:xfrm>
            <a:off x="6995160" y="5056632"/>
            <a:ext cx="43891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train_test_split · stratify로 클래스 비율 유지</a:t>
            </a:r>
            <a:endParaRPr lang="en-US" sz="1100"/>
          </a:p>
        </p:txBody>
      </p:sp>
      <p:pic>
        <p:nvPicPr>
          <p:cNvPr id="40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5857" y="3164966"/>
            <a:ext cx="4200525" cy="2257425"/>
          </a:xfrm>
          <a:prstGeom prst="rect">
            <a:avLst/>
          </a:prstGeom>
        </p:spPr>
      </p:pic>
      <p:pic>
        <p:nvPicPr>
          <p:cNvPr id="42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89030" y="1721230"/>
            <a:ext cx="4714179" cy="11499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04  MODEL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CNN 모델 설계</a:t>
            </a:r>
            <a:endParaRPr lang="en-US" sz="2900"/>
          </a:p>
        </p:txBody>
      </p:sp>
      <p:sp>
        <p:nvSpPr>
          <p:cNvPr id="14" name="Shape 12"/>
          <p:cNvSpPr/>
          <p:nvPr/>
        </p:nvSpPr>
        <p:spPr>
          <a:xfrm>
            <a:off x="640080" y="1828800"/>
            <a:ext cx="1371600" cy="1325880"/>
          </a:xfrm>
          <a:prstGeom prst="roundRect">
            <a:avLst>
              <a:gd name="adj" fmla="val 5517"/>
            </a:avLst>
          </a:prstGeom>
          <a:solidFill>
            <a:srgbClr val="13253e"/>
          </a:solidFill>
          <a:ln w="16510">
            <a:solidFill>
              <a:srgbClr val="21496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1828800"/>
            <a:ext cx="1371600" cy="13258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lnSpc>
                <a:spcPct val="95000"/>
              </a:lnSpc>
              <a:buNone/>
              <a:defRPr/>
            </a:pPr>
            <a:r>
              <a:rPr lang="en-US" sz="12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Input</a:t>
            </a:r>
            <a:endParaRPr lang="en-US" sz="1200" b="1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  <a:p>
            <a:pPr marL="0" indent="0" algn="ctr">
              <a:lnSpc>
                <a:spcPct val="95000"/>
              </a:lnSpc>
              <a:buNone/>
              <a:defRPr/>
            </a:pPr>
            <a:r>
              <a:rPr lang="en-US" sz="12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128×128×1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2020824" y="2487168"/>
            <a:ext cx="201168" cy="0"/>
          </a:xfrm>
          <a:prstGeom prst="line">
            <a:avLst/>
          </a:prstGeom>
          <a:noFill/>
          <a:ln w="19050">
            <a:solidFill>
              <a:srgbClr val="27d3ee"/>
            </a:solidFill>
            <a:prstDash val="solid"/>
            <a:tailEnd type="triangle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231136" y="1828800"/>
            <a:ext cx="1371600" cy="1325880"/>
          </a:xfrm>
          <a:prstGeom prst="roundRect">
            <a:avLst>
              <a:gd name="adj" fmla="val 5517"/>
            </a:avLst>
          </a:prstGeom>
          <a:solidFill>
            <a:srgbClr val="13253e"/>
          </a:solidFill>
          <a:ln w="16510">
            <a:solidFill>
              <a:srgbClr val="21496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2231136" y="1828800"/>
            <a:ext cx="1371600" cy="13258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lnSpc>
                <a:spcPct val="95000"/>
              </a:lnSpc>
              <a:buNone/>
              <a:defRPr/>
            </a:pPr>
            <a:r>
              <a:rPr lang="en-US" sz="12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Conv2D 16</a:t>
            </a:r>
            <a:endParaRPr lang="en-US" sz="1200"/>
          </a:p>
        </p:txBody>
      </p:sp>
      <p:sp>
        <p:nvSpPr>
          <p:cNvPr id="19" name="Shape 17"/>
          <p:cNvSpPr/>
          <p:nvPr/>
        </p:nvSpPr>
        <p:spPr>
          <a:xfrm>
            <a:off x="3611880" y="2487168"/>
            <a:ext cx="201168" cy="0"/>
          </a:xfrm>
          <a:prstGeom prst="line">
            <a:avLst/>
          </a:prstGeom>
          <a:noFill/>
          <a:ln w="19050">
            <a:solidFill>
              <a:srgbClr val="27d3ee"/>
            </a:solidFill>
            <a:prstDash val="solid"/>
            <a:tailEnd type="triangle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231136" y="3200400"/>
            <a:ext cx="1371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+MaxPool</a:t>
            </a:r>
            <a:endParaRPr lang="en-US" sz="900"/>
          </a:p>
        </p:txBody>
      </p:sp>
      <p:sp>
        <p:nvSpPr>
          <p:cNvPr id="21" name="Shape 19"/>
          <p:cNvSpPr/>
          <p:nvPr/>
        </p:nvSpPr>
        <p:spPr>
          <a:xfrm>
            <a:off x="3822192" y="1828800"/>
            <a:ext cx="1371600" cy="1325880"/>
          </a:xfrm>
          <a:prstGeom prst="roundRect">
            <a:avLst>
              <a:gd name="adj" fmla="val 5517"/>
            </a:avLst>
          </a:prstGeom>
          <a:solidFill>
            <a:srgbClr val="13253e"/>
          </a:solidFill>
          <a:ln w="16510">
            <a:solidFill>
              <a:srgbClr val="21496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3822192" y="1828800"/>
            <a:ext cx="1371600" cy="13258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lnSpc>
                <a:spcPct val="95000"/>
              </a:lnSpc>
              <a:buNone/>
              <a:defRPr/>
            </a:pPr>
            <a:r>
              <a:rPr lang="en-US" sz="12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Conv2D 32</a:t>
            </a:r>
            <a:endParaRPr lang="en-US" sz="1200"/>
          </a:p>
        </p:txBody>
      </p:sp>
      <p:sp>
        <p:nvSpPr>
          <p:cNvPr id="23" name="Shape 21"/>
          <p:cNvSpPr/>
          <p:nvPr/>
        </p:nvSpPr>
        <p:spPr>
          <a:xfrm>
            <a:off x="5202936" y="2487168"/>
            <a:ext cx="201168" cy="0"/>
          </a:xfrm>
          <a:prstGeom prst="line">
            <a:avLst/>
          </a:prstGeom>
          <a:noFill/>
          <a:ln w="19050">
            <a:solidFill>
              <a:srgbClr val="27d3ee"/>
            </a:solidFill>
            <a:prstDash val="solid"/>
            <a:tailEnd type="triangle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3822192" y="3200400"/>
            <a:ext cx="1371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+MaxPool</a:t>
            </a:r>
            <a:endParaRPr lang="en-US" sz="900"/>
          </a:p>
        </p:txBody>
      </p:sp>
      <p:sp>
        <p:nvSpPr>
          <p:cNvPr id="25" name="Shape 23"/>
          <p:cNvSpPr/>
          <p:nvPr/>
        </p:nvSpPr>
        <p:spPr>
          <a:xfrm>
            <a:off x="5413248" y="1828800"/>
            <a:ext cx="1371600" cy="1325880"/>
          </a:xfrm>
          <a:prstGeom prst="roundRect">
            <a:avLst>
              <a:gd name="adj" fmla="val 5517"/>
            </a:avLst>
          </a:prstGeom>
          <a:solidFill>
            <a:srgbClr val="13253e"/>
          </a:solidFill>
          <a:ln w="16510">
            <a:solidFill>
              <a:srgbClr val="21496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413248" y="1828800"/>
            <a:ext cx="1371600" cy="13258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lnSpc>
                <a:spcPct val="95000"/>
              </a:lnSpc>
              <a:buNone/>
              <a:defRPr/>
            </a:pPr>
            <a:r>
              <a:rPr lang="en-US" sz="12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Conv2D 64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6793992" y="2487168"/>
            <a:ext cx="201168" cy="0"/>
          </a:xfrm>
          <a:prstGeom prst="line">
            <a:avLst/>
          </a:prstGeom>
          <a:noFill/>
          <a:ln w="19050">
            <a:solidFill>
              <a:srgbClr val="27d3ee"/>
            </a:solidFill>
            <a:prstDash val="solid"/>
            <a:tailEnd type="triangle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413248" y="3200400"/>
            <a:ext cx="1371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+MaxPool</a:t>
            </a:r>
            <a:endParaRPr lang="en-US" sz="900"/>
          </a:p>
        </p:txBody>
      </p:sp>
      <p:sp>
        <p:nvSpPr>
          <p:cNvPr id="29" name="Shape 27"/>
          <p:cNvSpPr/>
          <p:nvPr/>
        </p:nvSpPr>
        <p:spPr>
          <a:xfrm>
            <a:off x="7004304" y="1828800"/>
            <a:ext cx="1371600" cy="1325880"/>
          </a:xfrm>
          <a:prstGeom prst="roundRect">
            <a:avLst>
              <a:gd name="adj" fmla="val 5517"/>
            </a:avLst>
          </a:prstGeom>
          <a:solidFill>
            <a:srgbClr val="13253e"/>
          </a:solidFill>
          <a:ln w="16510">
            <a:solidFill>
              <a:srgbClr val="21496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004304" y="1828800"/>
            <a:ext cx="1371600" cy="13258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lnSpc>
                <a:spcPct val="95000"/>
              </a:lnSpc>
              <a:buNone/>
              <a:defRPr/>
            </a:pPr>
            <a:r>
              <a:rPr lang="en-US" sz="12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Conv2D 128</a:t>
            </a:r>
            <a:endParaRPr lang="en-US" sz="1200"/>
          </a:p>
        </p:txBody>
      </p:sp>
      <p:sp>
        <p:nvSpPr>
          <p:cNvPr id="31" name="Shape 29"/>
          <p:cNvSpPr/>
          <p:nvPr/>
        </p:nvSpPr>
        <p:spPr>
          <a:xfrm>
            <a:off x="8385048" y="2487168"/>
            <a:ext cx="201168" cy="0"/>
          </a:xfrm>
          <a:prstGeom prst="line">
            <a:avLst/>
          </a:prstGeom>
          <a:noFill/>
          <a:ln w="19050">
            <a:solidFill>
              <a:srgbClr val="27d3ee"/>
            </a:solidFill>
            <a:prstDash val="solid"/>
            <a:tailEnd type="triangle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7004304" y="3200400"/>
            <a:ext cx="1371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+MaxPool</a:t>
            </a:r>
            <a:endParaRPr lang="en-US" sz="900"/>
          </a:p>
        </p:txBody>
      </p:sp>
      <p:sp>
        <p:nvSpPr>
          <p:cNvPr id="33" name="Shape 31"/>
          <p:cNvSpPr/>
          <p:nvPr/>
        </p:nvSpPr>
        <p:spPr>
          <a:xfrm>
            <a:off x="8595360" y="1828800"/>
            <a:ext cx="1371600" cy="1325880"/>
          </a:xfrm>
          <a:prstGeom prst="roundRect">
            <a:avLst>
              <a:gd name="adj" fmla="val 5517"/>
            </a:avLst>
          </a:prstGeom>
          <a:solidFill>
            <a:srgbClr val="13253e"/>
          </a:solidFill>
          <a:ln w="16510">
            <a:solidFill>
              <a:srgbClr val="21496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8595360" y="1828800"/>
            <a:ext cx="1371600" cy="13258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lnSpc>
                <a:spcPct val="95000"/>
              </a:lnSpc>
              <a:buNone/>
              <a:defRPr/>
            </a:pPr>
            <a:r>
              <a:rPr lang="en-US" sz="12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Dense 128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9976104" y="2487168"/>
            <a:ext cx="201168" cy="0"/>
          </a:xfrm>
          <a:prstGeom prst="line">
            <a:avLst/>
          </a:prstGeom>
          <a:noFill/>
          <a:ln w="19050">
            <a:solidFill>
              <a:srgbClr val="27d3ee"/>
            </a:solidFill>
            <a:prstDash val="solid"/>
            <a:tailEnd type="triangle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186416" y="1828800"/>
            <a:ext cx="1371600" cy="1325880"/>
          </a:xfrm>
          <a:prstGeom prst="roundRect">
            <a:avLst>
              <a:gd name="adj" fmla="val 5517"/>
            </a:avLst>
          </a:prstGeom>
          <a:solidFill>
            <a:srgbClr val="27d3e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10186416" y="1828800"/>
            <a:ext cx="1371600" cy="13258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lnSpc>
                <a:spcPct val="95000"/>
              </a:lnSpc>
              <a:buNone/>
              <a:defRPr/>
            </a:pPr>
            <a:r>
              <a:rPr lang="en-US" sz="1200" b="1">
                <a:solidFill>
                  <a:srgbClr val="0b1a2e"/>
                </a:solidFill>
                <a:latin typeface="맑은 고딕"/>
                <a:ea typeface="맑은 고딕"/>
                <a:cs typeface="맑은 고딕"/>
              </a:rPr>
              <a:t>Softmax</a:t>
            </a:r>
            <a:endParaRPr lang="en-US" sz="1200"/>
          </a:p>
        </p:txBody>
      </p:sp>
      <p:sp>
        <p:nvSpPr>
          <p:cNvPr id="38" name="Shape 36"/>
          <p:cNvSpPr/>
          <p:nvPr/>
        </p:nvSpPr>
        <p:spPr>
          <a:xfrm>
            <a:off x="640080" y="397764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6304e"/>
          </a:solidFill>
          <a:ln w="17780">
            <a:solidFill>
              <a:srgbClr val="27d3e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868680" y="4160520"/>
            <a:ext cx="4572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Focal Loss (γ = 3.0)</a:t>
            </a:r>
            <a:endParaRPr lang="en-US" sz="1600"/>
          </a:p>
        </p:txBody>
      </p:sp>
      <p:sp>
        <p:nvSpPr>
          <p:cNvPr id="40" name="Text 38"/>
          <p:cNvSpPr/>
          <p:nvPr/>
        </p:nvSpPr>
        <p:spPr>
          <a:xfrm>
            <a:off x="868680" y="4572000"/>
            <a:ext cx="493776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맞히기 쉬운 다수 클래스(none)의 손실을 깎아</a:t>
            </a:r>
            <a:endParaRPr lang="en-US" sz="130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드문 결함 패턴 학습에 집중 → 불균형 보정의 핵심</a:t>
            </a:r>
            <a:endParaRPr lang="en-US" sz="1300"/>
          </a:p>
        </p:txBody>
      </p:sp>
      <p:sp>
        <p:nvSpPr>
          <p:cNvPr id="41" name="Shape 39"/>
          <p:cNvSpPr/>
          <p:nvPr/>
        </p:nvSpPr>
        <p:spPr>
          <a:xfrm>
            <a:off x="6172200" y="397764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6400800" y="4114800"/>
            <a:ext cx="18288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Optimizer</a:t>
            </a:r>
            <a:endParaRPr lang="en-US" sz="1250"/>
          </a:p>
        </p:txBody>
      </p:sp>
      <p:sp>
        <p:nvSpPr>
          <p:cNvPr id="43" name="Text 41"/>
          <p:cNvSpPr/>
          <p:nvPr/>
        </p:nvSpPr>
        <p:spPr>
          <a:xfrm>
            <a:off x="8229600" y="4114800"/>
            <a:ext cx="32004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Adam</a:t>
            </a:r>
            <a:endParaRPr lang="en-US" sz="1250"/>
          </a:p>
        </p:txBody>
      </p:sp>
      <p:sp>
        <p:nvSpPr>
          <p:cNvPr id="44" name="Text 42"/>
          <p:cNvSpPr/>
          <p:nvPr/>
        </p:nvSpPr>
        <p:spPr>
          <a:xfrm>
            <a:off x="6400800" y="4507992"/>
            <a:ext cx="18288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Activation</a:t>
            </a:r>
            <a:endParaRPr lang="en-US" sz="1250"/>
          </a:p>
        </p:txBody>
      </p:sp>
      <p:sp>
        <p:nvSpPr>
          <p:cNvPr id="45" name="Text 43"/>
          <p:cNvSpPr/>
          <p:nvPr/>
        </p:nvSpPr>
        <p:spPr>
          <a:xfrm>
            <a:off x="8229600" y="4507992"/>
            <a:ext cx="32004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ReLU / Softmax</a:t>
            </a:r>
            <a:endParaRPr lang="en-US" sz="1250"/>
          </a:p>
        </p:txBody>
      </p:sp>
      <p:sp>
        <p:nvSpPr>
          <p:cNvPr id="46" name="Text 44"/>
          <p:cNvSpPr/>
          <p:nvPr/>
        </p:nvSpPr>
        <p:spPr>
          <a:xfrm>
            <a:off x="6400800" y="4901184"/>
            <a:ext cx="18288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과적합 방지</a:t>
            </a:r>
            <a:endParaRPr lang="en-US" sz="1250"/>
          </a:p>
        </p:txBody>
      </p:sp>
      <p:sp>
        <p:nvSpPr>
          <p:cNvPr id="47" name="Text 45"/>
          <p:cNvSpPr/>
          <p:nvPr/>
        </p:nvSpPr>
        <p:spPr>
          <a:xfrm>
            <a:off x="8229600" y="4901184"/>
            <a:ext cx="32004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Data Augmentation · Dropout 0.3</a:t>
            </a:r>
            <a:endParaRPr lang="en-US" sz="1250"/>
          </a:p>
        </p:txBody>
      </p:sp>
      <p:sp>
        <p:nvSpPr>
          <p:cNvPr id="48" name="Text 46"/>
          <p:cNvSpPr/>
          <p:nvPr/>
        </p:nvSpPr>
        <p:spPr>
          <a:xfrm>
            <a:off x="6400800" y="5294376"/>
            <a:ext cx="18288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해상도</a:t>
            </a:r>
            <a:endParaRPr lang="en-US" sz="1250"/>
          </a:p>
        </p:txBody>
      </p:sp>
      <p:sp>
        <p:nvSpPr>
          <p:cNvPr id="49" name="Text 47"/>
          <p:cNvSpPr/>
          <p:nvPr/>
        </p:nvSpPr>
        <p:spPr>
          <a:xfrm>
            <a:off x="8229600" y="5294376"/>
            <a:ext cx="32004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128×128 (Loc/Edge-Loc 구분 강화</a:t>
            </a:r>
            <a:r>
              <a:rPr lang="en-US" altLang="ko-KR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,</a:t>
            </a:r>
            <a:endParaRPr lang="en-US" altLang="ko-KR" sz="1250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buNone/>
              <a:defRPr/>
            </a:pPr>
            <a:r>
              <a:rPr lang="en-US" altLang="ko-KR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Edge-Loc/Edge-Ring </a:t>
            </a:r>
            <a:r>
              <a:rPr lang="ko-KR" alt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구분 강화</a:t>
            </a: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lang="en-US" sz="1250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30"/>
          <p:cNvSpPr/>
          <p:nvPr/>
        </p:nvSpPr>
        <p:spPr>
          <a:xfrm>
            <a:off x="6080760" y="1554480"/>
            <a:ext cx="5440680" cy="4114800"/>
          </a:xfrm>
          <a:prstGeom prst="roundRect">
            <a:avLst>
              <a:gd name="adj" fmla="val 2000"/>
            </a:avLst>
          </a:prstGeom>
          <a:solidFill>
            <a:srgbClr val="16304e"/>
          </a:solidFill>
          <a:ln w="17780">
            <a:solidFill>
              <a:srgbClr val="27d3e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0" name="Text 27"/>
          <p:cNvSpPr/>
          <p:nvPr/>
        </p:nvSpPr>
        <p:spPr>
          <a:xfrm>
            <a:off x="6309360" y="1783080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altLang="ko-KR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5</a:t>
            </a:r>
            <a:endParaRPr lang="en-US" altLang="ko-KR" sz="1700" b="1">
              <a:solidFill>
                <a:srgbClr val="27d3e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1" name="Shape 26"/>
          <p:cNvSpPr/>
          <p:nvPr/>
        </p:nvSpPr>
        <p:spPr>
          <a:xfrm>
            <a:off x="6309360" y="17830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05  TRAINING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학습 및 실험 관리</a:t>
            </a:r>
            <a:endParaRPr lang="en-US" sz="2900"/>
          </a:p>
        </p:txBody>
      </p:sp>
      <p:sp>
        <p:nvSpPr>
          <p:cNvPr id="14" name="Shape 12"/>
          <p:cNvSpPr/>
          <p:nvPr/>
        </p:nvSpPr>
        <p:spPr>
          <a:xfrm>
            <a:off x="640080" y="1554480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68680" y="1737360"/>
            <a:ext cx="4572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학습 전략</a:t>
            </a:r>
            <a:endParaRPr lang="en-US" sz="1600"/>
          </a:p>
        </p:txBody>
      </p:sp>
      <p:sp>
        <p:nvSpPr>
          <p:cNvPr id="16" name="Shape 14"/>
          <p:cNvSpPr/>
          <p:nvPr/>
        </p:nvSpPr>
        <p:spPr>
          <a:xfrm>
            <a:off x="868680" y="21945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68680" y="2194560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1</a:t>
            </a:r>
            <a:endParaRPr lang="en-US" sz="1700"/>
          </a:p>
        </p:txBody>
      </p:sp>
      <p:sp>
        <p:nvSpPr>
          <p:cNvPr id="18" name="Text 16"/>
          <p:cNvSpPr/>
          <p:nvPr/>
        </p:nvSpPr>
        <p:spPr>
          <a:xfrm>
            <a:off x="1554480" y="2176272"/>
            <a:ext cx="4206240" cy="34747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Focal Loss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1554480" y="2505456"/>
            <a:ext cx="42062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다수 클래스 억제, 드문 결함에 집중</a:t>
            </a:r>
            <a:endParaRPr lang="en-US" sz="1100"/>
          </a:p>
        </p:txBody>
      </p:sp>
      <p:sp>
        <p:nvSpPr>
          <p:cNvPr id="20" name="Shape 18"/>
          <p:cNvSpPr/>
          <p:nvPr/>
        </p:nvSpPr>
        <p:spPr>
          <a:xfrm>
            <a:off x="868680" y="3044952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68680" y="3044952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lang="en-US" sz="1700"/>
          </a:p>
        </p:txBody>
      </p:sp>
      <p:sp>
        <p:nvSpPr>
          <p:cNvPr id="22" name="Text 20"/>
          <p:cNvSpPr/>
          <p:nvPr/>
        </p:nvSpPr>
        <p:spPr>
          <a:xfrm>
            <a:off x="1554480" y="3026664"/>
            <a:ext cx="4206240" cy="34747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EarlyStopping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1554480" y="3355848"/>
            <a:ext cx="42062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val_loss </a:t>
            </a:r>
            <a:r>
              <a:rPr lang="en-US" altLang="ko-KR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회 미개선 시 중단, 최적 가중치 복원</a:t>
            </a:r>
            <a:endParaRPr lang="en-US" sz="1100">
              <a:solidFill>
                <a:srgbClr val="9fb6c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68680" y="389534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868680" y="3895344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lang="en-US" sz="1700"/>
          </a:p>
        </p:txBody>
      </p:sp>
      <p:sp>
        <p:nvSpPr>
          <p:cNvPr id="26" name="Text 24"/>
          <p:cNvSpPr/>
          <p:nvPr/>
        </p:nvSpPr>
        <p:spPr>
          <a:xfrm>
            <a:off x="1554480" y="3877056"/>
            <a:ext cx="4206240" cy="34747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Class 유지</a:t>
            </a:r>
            <a:endParaRPr lang="en-US" sz="1400"/>
          </a:p>
        </p:txBody>
      </p:sp>
      <p:sp>
        <p:nvSpPr>
          <p:cNvPr id="27" name="Text 25"/>
          <p:cNvSpPr/>
          <p:nvPr/>
        </p:nvSpPr>
        <p:spPr>
          <a:xfrm>
            <a:off x="1554480" y="4206240"/>
            <a:ext cx="42062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결함 8종 전부 사용 (데이터 안 버림)</a:t>
            </a:r>
            <a:endParaRPr lang="en-US" sz="1100"/>
          </a:p>
        </p:txBody>
      </p:sp>
      <p:sp>
        <p:nvSpPr>
          <p:cNvPr id="28" name="Shape 26"/>
          <p:cNvSpPr/>
          <p:nvPr/>
        </p:nvSpPr>
        <p:spPr>
          <a:xfrm>
            <a:off x="868680" y="4745736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68680" y="4745736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lang="en-US" sz="1700"/>
          </a:p>
        </p:txBody>
      </p:sp>
      <p:sp>
        <p:nvSpPr>
          <p:cNvPr id="30" name="Text 28"/>
          <p:cNvSpPr/>
          <p:nvPr/>
        </p:nvSpPr>
        <p:spPr>
          <a:xfrm>
            <a:off x="1554480" y="4727448"/>
            <a:ext cx="4206240" cy="34747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Batch / Epoch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1554480" y="5056632"/>
            <a:ext cx="42062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altLang="ko-KR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32</a:t>
            </a: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 / 최대 </a:t>
            </a:r>
            <a:r>
              <a:rPr lang="en-US" altLang="ko-KR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0 (상한, 자동 조기 종료)</a:t>
            </a:r>
            <a:endParaRPr lang="en-US" sz="1100">
              <a:solidFill>
                <a:srgbClr val="9fb6c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66585" y="1737360"/>
            <a:ext cx="4572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lt1"/>
                </a:solidFill>
                <a:latin typeface="맑은 고딕"/>
                <a:ea typeface="맑은 고딕"/>
                <a:cs typeface="맑은 고딕"/>
              </a:rPr>
              <a:t>MLflow 실험 추적</a:t>
            </a:r>
            <a:endParaRPr lang="en-US" sz="1400">
              <a:solidFill>
                <a:schemeClr val="lt1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6957060" y="2083308"/>
            <a:ext cx="50292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설정·기법을 바꿀 때마다 자동 기록 → 실험 비교</a:t>
            </a:r>
            <a:endParaRPr lang="en-US" sz="1200"/>
          </a:p>
        </p:txBody>
      </p:sp>
      <p:sp>
        <p:nvSpPr>
          <p:cNvPr id="35" name="Text 33"/>
          <p:cNvSpPr/>
          <p:nvPr/>
        </p:nvSpPr>
        <p:spPr>
          <a:xfrm>
            <a:off x="6309360" y="2539365"/>
            <a:ext cx="5120640" cy="22860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55000"/>
              </a:lnSpc>
              <a:buNone/>
              <a:defRPr/>
            </a:pPr>
            <a:r>
              <a:rPr lang="en-US" sz="125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Parameters  </a:t>
            </a: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img_size · focal_gamma · cap_none · batch</a:t>
            </a:r>
            <a:endParaRPr lang="en-US" sz="1250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55000"/>
              </a:lnSpc>
              <a:buNone/>
              <a:defRPr/>
            </a:pPr>
            <a:r>
              <a:rPr lang="en-US" sz="125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Metrics  </a:t>
            </a: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test_accuracy · macro_f1 · </a:t>
            </a:r>
            <a:r>
              <a:rPr lang="en-US" altLang="ko-KR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precision </a:t>
            </a: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en-US" altLang="ko-KR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클래스별 recall</a:t>
            </a:r>
            <a:endParaRPr lang="en-US" sz="1250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55000"/>
              </a:lnSpc>
              <a:buNone/>
              <a:defRPr/>
            </a:pPr>
            <a:r>
              <a:rPr lang="en-US" sz="125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Artifacts  </a:t>
            </a: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혼동행렬 이미지 · 분류 리포트</a:t>
            </a:r>
            <a:endParaRPr lang="en-US" sz="1250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55000"/>
              </a:lnSpc>
              <a:buNone/>
              <a:defRPr/>
            </a:pPr>
            <a:r>
              <a:rPr lang="en-US" sz="125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Model  </a:t>
            </a:r>
            <a:r>
              <a:rPr lang="en-US" sz="1250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학습 모델 버전 자동 저장</a:t>
            </a:r>
            <a:endParaRPr lang="en-US" sz="1250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309360" y="507492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0b1a2e"/>
          </a:solidFill>
          <a:ln w="12700">
            <a:solidFill>
              <a:srgbClr val="21496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309360" y="5074920"/>
            <a:ext cx="493776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fe4f5"/>
                </a:solidFill>
                <a:latin typeface="Consolas"/>
                <a:ea typeface="Consolas"/>
                <a:cs typeface="Consolas"/>
              </a:rPr>
              <a:t>sqlite:///mlflow.db  →  mlflow ui</a:t>
            </a:r>
            <a:endParaRPr lang="en-US" sz="1200"/>
          </a:p>
        </p:txBody>
      </p:sp>
      <p:sp>
        <p:nvSpPr>
          <p:cNvPr id="42" name="Text 27"/>
          <p:cNvSpPr/>
          <p:nvPr/>
        </p:nvSpPr>
        <p:spPr>
          <a:xfrm>
            <a:off x="6309360" y="1786128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altLang="ko-KR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5</a:t>
            </a:r>
            <a:endParaRPr lang="en-US" altLang="ko-KR" sz="1700" b="1">
              <a:solidFill>
                <a:srgbClr val="27d3ee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05  EXPERIMENT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실험 비교 — 클래스 불균형 튜닝</a:t>
            </a:r>
            <a:endParaRPr lang="en-US" sz="2900"/>
          </a:p>
        </p:txBody>
      </p:sp>
      <p:sp>
        <p:nvSpPr>
          <p:cNvPr id="14" name="Shape 12"/>
          <p:cNvSpPr/>
          <p:nvPr/>
        </p:nvSpPr>
        <p:spPr>
          <a:xfrm>
            <a:off x="640080" y="1554480"/>
            <a:ext cx="5943600" cy="4160520"/>
          </a:xfrm>
          <a:prstGeom prst="roundRect">
            <a:avLst>
              <a:gd name="adj" fmla="val 1978"/>
            </a:avLst>
          </a:prstGeom>
          <a:solidFill>
            <a:srgbClr val="16304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pic>
        <p:nvPicPr>
          <p:cNvPr id="15" name="Image 0" descr="capnone_char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68680" y="2148840"/>
            <a:ext cx="5486400" cy="26060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40080" y="4937760"/>
            <a:ext cx="594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CAP_NONE 값에 따른 Macro-F1 변화 (MLflow 5개 run 비교)</a:t>
            </a:r>
            <a:endParaRPr lang="en-US" sz="1150"/>
          </a:p>
        </p:txBody>
      </p:sp>
      <p:sp>
        <p:nvSpPr>
          <p:cNvPr id="17" name="Shape 14"/>
          <p:cNvSpPr/>
          <p:nvPr/>
        </p:nvSpPr>
        <p:spPr>
          <a:xfrm>
            <a:off x="6766560" y="1554480"/>
            <a:ext cx="4754880" cy="4160520"/>
          </a:xfrm>
          <a:prstGeom prst="roundRect">
            <a:avLst>
              <a:gd name="adj" fmla="val 1978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6995160" y="1737360"/>
            <a:ext cx="41148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핵심 인사이트</a:t>
            </a:r>
            <a:endParaRPr lang="en-US" sz="1600"/>
          </a:p>
        </p:txBody>
      </p:sp>
      <p:sp>
        <p:nvSpPr>
          <p:cNvPr id="19" name="Text 16"/>
          <p:cNvSpPr/>
          <p:nvPr/>
        </p:nvSpPr>
        <p:spPr>
          <a:xfrm>
            <a:off x="6995160" y="2240280"/>
            <a:ext cx="4297680" cy="23774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342900" indent="-342900">
              <a:lnSpc>
                <a:spcPct val="140000"/>
              </a:lnSpc>
              <a:buSzPct val="100000"/>
              <a:buChar char="→"/>
              <a:defRPr/>
            </a:pP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none을 줄일수록 결함 recall은 계속 상승</a:t>
            </a:r>
            <a:endParaRPr lang="en-US" sz="125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40000"/>
              </a:lnSpc>
              <a:buSzPct val="100000"/>
              <a:buChar char="→"/>
              <a:defRPr/>
            </a:pP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그러나 10,000 미만에선 정상 오판(false alarm)이 늘어 Macro-F1 하락</a:t>
            </a:r>
            <a:endParaRPr lang="en-US" sz="125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40000"/>
              </a:lnSpc>
              <a:buSzPct val="100000"/>
              <a:buChar char="→"/>
              <a:defRPr/>
            </a:pP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recall 단일 지표가 아닌 Macro-F1 기준으로 최적점 탐색</a:t>
            </a:r>
            <a:endParaRPr lang="en-US" sz="125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40000"/>
              </a:lnSpc>
              <a:buSzPct val="100000"/>
              <a:buChar char="→"/>
              <a:defRPr/>
            </a:pP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cap=10,000을 최종 채택 (변곡점)</a:t>
            </a:r>
            <a:endParaRPr lang="en-US" sz="1250"/>
          </a:p>
        </p:txBody>
      </p:sp>
      <p:sp>
        <p:nvSpPr>
          <p:cNvPr id="20" name="Shape 17"/>
          <p:cNvSpPr/>
          <p:nvPr/>
        </p:nvSpPr>
        <p:spPr>
          <a:xfrm>
            <a:off x="6995160" y="4983480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27d3ee">
              <a:alpha val="20000"/>
            </a:srgbClr>
          </a:solidFill>
          <a:ln w="1270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995160" y="4983480"/>
            <a:ext cx="429768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6fe4f5"/>
                </a:solidFill>
                <a:latin typeface="맑은 고딕"/>
                <a:ea typeface="맑은 고딕"/>
                <a:cs typeface="맑은 고딕"/>
              </a:rPr>
              <a:t>불균형을 정량적으로 튜닝 → 올바른 지표로 판단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06  EVALUATION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성능 평가</a:t>
            </a:r>
            <a:endParaRPr lang="en-US" sz="2900"/>
          </a:p>
        </p:txBody>
      </p:sp>
      <p:sp>
        <p:nvSpPr>
          <p:cNvPr id="14" name="Shape 12"/>
          <p:cNvSpPr/>
          <p:nvPr/>
        </p:nvSpPr>
        <p:spPr>
          <a:xfrm>
            <a:off x="640080" y="1554480"/>
            <a:ext cx="3429000" cy="1737360"/>
          </a:xfrm>
          <a:prstGeom prst="roundRect">
            <a:avLst>
              <a:gd name="adj" fmla="val 4737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1691640"/>
            <a:ext cx="3429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Test Accuracy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640080" y="2057400"/>
            <a:ext cx="3429000" cy="7772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altLang="ko-KR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.</a:t>
            </a:r>
            <a:r>
              <a:rPr lang="en-US" altLang="ko-KR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92</a:t>
            </a: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%</a:t>
            </a:r>
            <a:endParaRPr lang="en-US" sz="3800" b="1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4290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(참고 지표)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4297680" y="1554480"/>
            <a:ext cx="3429000" cy="1737360"/>
          </a:xfrm>
          <a:prstGeom prst="roundRect">
            <a:avLst>
              <a:gd name="adj" fmla="val 4737"/>
            </a:avLst>
          </a:prstGeom>
          <a:solidFill>
            <a:srgbClr val="13253e"/>
          </a:solidFill>
          <a:ln w="20320">
            <a:solidFill>
              <a:srgbClr val="27d3e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297680" y="1691640"/>
            <a:ext cx="3429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Macro-F1</a:t>
            </a:r>
            <a:endParaRPr lang="en-US" sz="1300"/>
          </a:p>
        </p:txBody>
      </p:sp>
      <p:sp>
        <p:nvSpPr>
          <p:cNvPr id="20" name="Text 18"/>
          <p:cNvSpPr/>
          <p:nvPr/>
        </p:nvSpPr>
        <p:spPr>
          <a:xfrm>
            <a:off x="4297680" y="2057400"/>
            <a:ext cx="3429000" cy="7772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0.</a:t>
            </a:r>
            <a:r>
              <a:rPr lang="en-US" altLang="ko-KR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8</a:t>
            </a: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9+</a:t>
            </a:r>
            <a:endParaRPr lang="en-US" sz="3800" b="1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297680" y="2880360"/>
            <a:ext cx="34290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클래스 공평 평균</a:t>
            </a:r>
            <a:endParaRPr lang="en-US" sz="1100"/>
          </a:p>
        </p:txBody>
      </p:sp>
      <p:sp>
        <p:nvSpPr>
          <p:cNvPr id="22" name="Shape 20"/>
          <p:cNvSpPr/>
          <p:nvPr/>
        </p:nvSpPr>
        <p:spPr>
          <a:xfrm>
            <a:off x="7955280" y="1554480"/>
            <a:ext cx="3429000" cy="1737360"/>
          </a:xfrm>
          <a:prstGeom prst="roundRect">
            <a:avLst>
              <a:gd name="adj" fmla="val 4737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955280" y="1691640"/>
            <a:ext cx="3429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결함 Recall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7955280" y="2057400"/>
            <a:ext cx="3429000" cy="7772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추적</a:t>
            </a:r>
            <a:endParaRPr lang="en-US" sz="3800"/>
          </a:p>
        </p:txBody>
      </p:sp>
      <p:sp>
        <p:nvSpPr>
          <p:cNvPr id="25" name="Text 23"/>
          <p:cNvSpPr/>
          <p:nvPr/>
        </p:nvSpPr>
        <p:spPr>
          <a:xfrm>
            <a:off x="7955280" y="2880360"/>
            <a:ext cx="34290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불량 누락 최소화</a:t>
            </a:r>
            <a:endParaRPr lang="en-US" sz="1100"/>
          </a:p>
        </p:txBody>
      </p:sp>
      <p:sp>
        <p:nvSpPr>
          <p:cNvPr id="26" name="Shape 24"/>
          <p:cNvSpPr/>
          <p:nvPr/>
        </p:nvSpPr>
        <p:spPr>
          <a:xfrm>
            <a:off x="640080" y="35204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16304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868680" y="3703320"/>
            <a:ext cx="4572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불균형 데이터의 평가 원칙</a:t>
            </a:r>
            <a:endParaRPr lang="en-US" sz="1500"/>
          </a:p>
        </p:txBody>
      </p:sp>
      <p:sp>
        <p:nvSpPr>
          <p:cNvPr id="28" name="Text 26"/>
          <p:cNvSpPr/>
          <p:nvPr/>
        </p:nvSpPr>
        <p:spPr>
          <a:xfrm>
            <a:off x="960120" y="4114800"/>
            <a:ext cx="4846320" cy="1554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342900" indent="-342900">
              <a:lnSpc>
                <a:spcPct val="145000"/>
              </a:lnSpc>
              <a:buSzPct val="100000"/>
              <a:buChar char="→"/>
              <a:defRPr/>
            </a:pP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정상 86% 데이터에선 정확도가 과대평가됨</a:t>
            </a:r>
            <a:endParaRPr lang="en-US" sz="130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45000"/>
              </a:lnSpc>
              <a:buSzPct val="100000"/>
              <a:buChar char="→"/>
              <a:defRPr/>
            </a:pP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Macro-F1 · Macro-</a:t>
            </a:r>
            <a:r>
              <a:rPr lang="en-US" altLang="ko-KR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Precision</a:t>
            </a: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 ·클래스별 recall로 실제 성능 판단</a:t>
            </a:r>
            <a:endParaRPr lang="en-US" sz="130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45000"/>
              </a:lnSpc>
              <a:buSzPct val="100000"/>
              <a:buChar char="→"/>
              <a:defRPr/>
            </a:pP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'불량을 정상으로 놓침'을 가장 비싼 오류로 관리</a:t>
            </a:r>
            <a:endParaRPr lang="en-US" sz="130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80760" y="3520440"/>
            <a:ext cx="5440680" cy="2286000"/>
          </a:xfrm>
          <a:prstGeom prst="roundRect">
            <a:avLst>
              <a:gd name="adj" fmla="val 360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080760" y="4297680"/>
            <a:ext cx="54406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[ 혼동행렬 이미지 삽입 ]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6080760" y="4754880"/>
            <a:ext cx="54406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노트북 평가 셀의 Confusion Matrix 캡처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06  EVALUATION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성능 평가</a:t>
            </a:r>
            <a:endParaRPr lang="en-US" sz="2900"/>
          </a:p>
        </p:txBody>
      </p:sp>
      <p:sp>
        <p:nvSpPr>
          <p:cNvPr id="14" name="Shape 12"/>
          <p:cNvSpPr/>
          <p:nvPr/>
        </p:nvSpPr>
        <p:spPr>
          <a:xfrm>
            <a:off x="640080" y="1554480"/>
            <a:ext cx="3429000" cy="1737360"/>
          </a:xfrm>
          <a:prstGeom prst="roundRect">
            <a:avLst>
              <a:gd name="adj" fmla="val 4737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1691640"/>
            <a:ext cx="3429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Test Accuracy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640080" y="2057400"/>
            <a:ext cx="3429000" cy="7772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altLang="ko-KR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.</a:t>
            </a:r>
            <a:r>
              <a:rPr lang="en-US" altLang="ko-KR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92</a:t>
            </a: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%</a:t>
            </a:r>
            <a:endParaRPr lang="en-US" sz="3800" b="1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4290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(참고 지표)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4297680" y="1554480"/>
            <a:ext cx="3429000" cy="1737360"/>
          </a:xfrm>
          <a:prstGeom prst="roundRect">
            <a:avLst>
              <a:gd name="adj" fmla="val 4737"/>
            </a:avLst>
          </a:prstGeom>
          <a:solidFill>
            <a:srgbClr val="13253e"/>
          </a:solidFill>
          <a:ln w="20320">
            <a:solidFill>
              <a:srgbClr val="27d3e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297680" y="1691640"/>
            <a:ext cx="3429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Macro-F1</a:t>
            </a:r>
            <a:endParaRPr lang="en-US" sz="1300"/>
          </a:p>
        </p:txBody>
      </p:sp>
      <p:sp>
        <p:nvSpPr>
          <p:cNvPr id="20" name="Text 18"/>
          <p:cNvSpPr/>
          <p:nvPr/>
        </p:nvSpPr>
        <p:spPr>
          <a:xfrm>
            <a:off x="4297680" y="2057400"/>
            <a:ext cx="3429000" cy="7772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0.</a:t>
            </a:r>
            <a:r>
              <a:rPr lang="en-US" altLang="ko-KR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8</a:t>
            </a: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9+</a:t>
            </a:r>
            <a:endParaRPr lang="en-US" sz="3800" b="1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297680" y="2880360"/>
            <a:ext cx="34290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클래스 공평 평균</a:t>
            </a:r>
            <a:endParaRPr lang="en-US" sz="1100"/>
          </a:p>
        </p:txBody>
      </p:sp>
      <p:sp>
        <p:nvSpPr>
          <p:cNvPr id="22" name="Shape 20"/>
          <p:cNvSpPr/>
          <p:nvPr/>
        </p:nvSpPr>
        <p:spPr>
          <a:xfrm>
            <a:off x="7955280" y="1554480"/>
            <a:ext cx="3429000" cy="1737360"/>
          </a:xfrm>
          <a:prstGeom prst="roundRect">
            <a:avLst>
              <a:gd name="adj" fmla="val 4737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955280" y="1691640"/>
            <a:ext cx="3429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altLang="ko-KR" sz="13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Macro-Precision</a:t>
            </a:r>
            <a:endParaRPr lang="en-US" altLang="ko-KR" sz="1300" b="1">
              <a:solidFill>
                <a:srgbClr val="3fb6e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55280" y="2880360"/>
            <a:ext cx="34290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불량 누락 최소화</a:t>
            </a:r>
            <a:endParaRPr lang="en-US" sz="1100"/>
          </a:p>
        </p:txBody>
      </p:sp>
      <p:sp>
        <p:nvSpPr>
          <p:cNvPr id="26" name="Shape 24"/>
          <p:cNvSpPr/>
          <p:nvPr/>
        </p:nvSpPr>
        <p:spPr>
          <a:xfrm>
            <a:off x="2792730" y="3520440"/>
            <a:ext cx="6407573" cy="2286000"/>
          </a:xfrm>
          <a:prstGeom prst="roundRect">
            <a:avLst>
              <a:gd name="adj" fmla="val 3600"/>
            </a:avLst>
          </a:prstGeom>
          <a:solidFill>
            <a:srgbClr val="16304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021330" y="3703320"/>
            <a:ext cx="4572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불균형 데이터의 평가 원칙</a:t>
            </a:r>
            <a:endParaRPr lang="en-US" sz="1500"/>
          </a:p>
        </p:txBody>
      </p:sp>
      <p:sp>
        <p:nvSpPr>
          <p:cNvPr id="28" name="Text 26"/>
          <p:cNvSpPr/>
          <p:nvPr/>
        </p:nvSpPr>
        <p:spPr>
          <a:xfrm>
            <a:off x="3112770" y="4114800"/>
            <a:ext cx="5193792" cy="1554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342900" indent="-342900">
              <a:lnSpc>
                <a:spcPct val="145000"/>
              </a:lnSpc>
              <a:buSzPct val="100000"/>
              <a:buChar char="→"/>
              <a:defRPr/>
            </a:pP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정상 86% 데이터에선 정확도가 과대평가됨</a:t>
            </a:r>
            <a:endParaRPr lang="en-US" sz="130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45000"/>
              </a:lnSpc>
              <a:buSzPct val="100000"/>
              <a:buChar char="→"/>
              <a:defRPr/>
            </a:pP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Macro-F1 · Macro-</a:t>
            </a:r>
            <a:r>
              <a:rPr lang="en-US" altLang="ko-KR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Precision</a:t>
            </a: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 ·클래스별 recall로 실제 성</a:t>
            </a:r>
            <a:r>
              <a:rPr lang="ko-KR" alt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능 </a:t>
            </a: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판단</a:t>
            </a:r>
            <a:endParaRPr lang="en-US" sz="130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45000"/>
              </a:lnSpc>
              <a:buSzPct val="100000"/>
              <a:buChar char="→"/>
              <a:defRPr/>
            </a:pPr>
            <a:r>
              <a:rPr lang="en-US" sz="130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'불량을 정상으로 놓침'을 가장 비싼 오류로 관리</a:t>
            </a:r>
            <a:endParaRPr lang="en-US" sz="130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2" name="Text 18"/>
          <p:cNvSpPr/>
          <p:nvPr/>
        </p:nvSpPr>
        <p:spPr>
          <a:xfrm>
            <a:off x="7946136" y="2057400"/>
            <a:ext cx="3429000" cy="7772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0.</a:t>
            </a:r>
            <a:r>
              <a:rPr lang="en-US" altLang="ko-KR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8</a:t>
            </a:r>
            <a:r>
              <a:rPr lang="en-US" sz="38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9+</a:t>
            </a:r>
            <a:endParaRPr lang="en-US" sz="3800" b="1">
              <a:solidFill>
                <a:srgbClr val="f5faff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06  EVALUATION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성능 평가 — Best Run (cap_none=10,000)</a:t>
            </a:r>
            <a:endParaRPr lang="en-US" sz="2900"/>
          </a:p>
        </p:txBody>
      </p:sp>
      <p:sp>
        <p:nvSpPr>
          <p:cNvPr id="14" name="Shape 12"/>
          <p:cNvSpPr/>
          <p:nvPr/>
        </p:nvSpPr>
        <p:spPr>
          <a:xfrm>
            <a:off x="640080" y="15087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1627632"/>
            <a:ext cx="3429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Test Accuracy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640080" y="1965960"/>
            <a:ext cx="3429000" cy="7315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92.4%</a:t>
            </a:r>
            <a:endParaRPr lang="en-US" sz="3600"/>
          </a:p>
        </p:txBody>
      </p:sp>
      <p:sp>
        <p:nvSpPr>
          <p:cNvPr id="17" name="Text 15"/>
          <p:cNvSpPr/>
          <p:nvPr/>
        </p:nvSpPr>
        <p:spPr>
          <a:xfrm>
            <a:off x="640080" y="2724912"/>
            <a:ext cx="34290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(참고 지표)</a:t>
            </a:r>
            <a:endParaRPr lang="en-US" sz="1050"/>
          </a:p>
        </p:txBody>
      </p:sp>
      <p:sp>
        <p:nvSpPr>
          <p:cNvPr id="18" name="Shape 16"/>
          <p:cNvSpPr/>
          <p:nvPr/>
        </p:nvSpPr>
        <p:spPr>
          <a:xfrm>
            <a:off x="4297680" y="15087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13253e"/>
          </a:solidFill>
          <a:ln w="20320">
            <a:solidFill>
              <a:srgbClr val="27d3e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297680" y="1627632"/>
            <a:ext cx="3429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Macro-F1</a:t>
            </a:r>
            <a:endParaRPr lang="en-US" sz="1300"/>
          </a:p>
        </p:txBody>
      </p:sp>
      <p:sp>
        <p:nvSpPr>
          <p:cNvPr id="20" name="Text 18"/>
          <p:cNvSpPr/>
          <p:nvPr/>
        </p:nvSpPr>
        <p:spPr>
          <a:xfrm>
            <a:off x="4297680" y="1965960"/>
            <a:ext cx="3429000" cy="7315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0.90</a:t>
            </a:r>
            <a:endParaRPr lang="en-US" sz="3600"/>
          </a:p>
        </p:txBody>
      </p:sp>
      <p:sp>
        <p:nvSpPr>
          <p:cNvPr id="21" name="Text 19"/>
          <p:cNvSpPr/>
          <p:nvPr/>
        </p:nvSpPr>
        <p:spPr>
          <a:xfrm>
            <a:off x="4297680" y="2724912"/>
            <a:ext cx="34290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핵심 지표 · 클래스 공평</a:t>
            </a:r>
            <a:endParaRPr lang="en-US" sz="1050"/>
          </a:p>
        </p:txBody>
      </p:sp>
      <p:sp>
        <p:nvSpPr>
          <p:cNvPr id="22" name="Shape 20"/>
          <p:cNvSpPr/>
          <p:nvPr/>
        </p:nvSpPr>
        <p:spPr>
          <a:xfrm>
            <a:off x="7955280" y="15087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955280" y="1627632"/>
            <a:ext cx="34290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Macro-Precision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7955280" y="1965960"/>
            <a:ext cx="3429000" cy="7315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0.90</a:t>
            </a:r>
            <a:endParaRPr lang="en-US" sz="3600"/>
          </a:p>
        </p:txBody>
      </p:sp>
      <p:sp>
        <p:nvSpPr>
          <p:cNvPr id="25" name="Text 23"/>
          <p:cNvSpPr/>
          <p:nvPr/>
        </p:nvSpPr>
        <p:spPr>
          <a:xfrm>
            <a:off x="7955280" y="2724912"/>
            <a:ext cx="342900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오판(false alarm) 균형</a:t>
            </a:r>
            <a:endParaRPr lang="en-US" sz="1050"/>
          </a:p>
        </p:txBody>
      </p:sp>
      <p:sp>
        <p:nvSpPr>
          <p:cNvPr id="26" name="Shape 24"/>
          <p:cNvSpPr/>
          <p:nvPr/>
        </p:nvSpPr>
        <p:spPr>
          <a:xfrm>
            <a:off x="640080" y="3291840"/>
            <a:ext cx="4160520" cy="3154680"/>
          </a:xfrm>
          <a:prstGeom prst="roundRect">
            <a:avLst>
              <a:gd name="adj" fmla="val 2609"/>
            </a:avLst>
          </a:prstGeom>
          <a:solidFill>
            <a:srgbClr val="16304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pic>
        <p:nvPicPr>
          <p:cNvPr id="27" name="Image 0" descr="cm_final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77240" y="3429000"/>
            <a:ext cx="3886200" cy="292608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4983480" y="3291840"/>
            <a:ext cx="6537960" cy="3154680"/>
          </a:xfrm>
          <a:prstGeom prst="roundRect">
            <a:avLst>
              <a:gd name="adj" fmla="val 2609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" name="Text 26"/>
          <p:cNvSpPr/>
          <p:nvPr/>
        </p:nvSpPr>
        <p:spPr>
          <a:xfrm>
            <a:off x="5212080" y="3429000"/>
            <a:ext cx="54864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결과 해석</a:t>
            </a:r>
            <a:endParaRPr lang="en-US" sz="1500"/>
          </a:p>
        </p:txBody>
      </p:sp>
      <p:sp>
        <p:nvSpPr>
          <p:cNvPr id="30" name="Text 27"/>
          <p:cNvSpPr/>
          <p:nvPr/>
        </p:nvSpPr>
        <p:spPr>
          <a:xfrm>
            <a:off x="5212080" y="3840480"/>
            <a:ext cx="6126480" cy="24688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35000"/>
              </a:lnSpc>
              <a:buNone/>
              <a:defRPr/>
            </a:pP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정확도(92.4%)는 참고용 — 정상 비중 보정 후에도 </a:t>
            </a:r>
            <a:r>
              <a:rPr lang="en-US" sz="125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Macro-F1 0.90 </a:t>
            </a: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달성</a:t>
            </a:r>
            <a:endParaRPr lang="en-US" sz="125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35000"/>
              </a:lnSpc>
              <a:buSzPct val="100000"/>
              <a:buChar char="→"/>
              <a:defRPr/>
            </a:pP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Scratch·Edge-Loc의 정상(none) 누락 대폭 감소 — 불량 놓침 최소화</a:t>
            </a:r>
            <a:endParaRPr lang="en-US" sz="125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35000"/>
              </a:lnSpc>
              <a:buSzPct val="100000"/>
              <a:buChar char="→"/>
              <a:defRPr/>
            </a:pP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Recall·Precision 균형(0.90/0.90)으로 false alarm도 억제</a:t>
            </a:r>
            <a:endParaRPr lang="en-US" sz="1250">
              <a:solidFill>
                <a:srgbClr val="d7e5f2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lnSpc>
                <a:spcPct val="135000"/>
              </a:lnSpc>
              <a:buSzPct val="100000"/>
              <a:buChar char="→"/>
              <a:defRPr/>
            </a:pPr>
            <a:r>
              <a:rPr lang="en-US" sz="1250">
                <a:solidFill>
                  <a:srgbClr val="d7e5f2"/>
                </a:solidFill>
                <a:latin typeface="맑은 고딕"/>
                <a:ea typeface="맑은 고딕"/>
                <a:cs typeface="맑은 고딕"/>
              </a:rPr>
              <a:t>한계: Loc(recall 0.79)가 최저 — 국부 불량의 패턴 다양성 때문, 추가 데이터·고해상도로 개선 여지</a:t>
            </a:r>
            <a:endParaRPr lang="en-US" sz="12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6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DEPLOY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시각화 및 배포 — Streamlit</a:t>
            </a:r>
            <a:endParaRPr lang="en-US" sz="2900" dirty="0"/>
          </a:p>
        </p:txBody>
      </p:sp>
      <p:sp>
        <p:nvSpPr>
          <p:cNvPr id="14" name="Shape 12"/>
          <p:cNvSpPr/>
          <p:nvPr/>
        </p:nvSpPr>
        <p:spPr>
          <a:xfrm>
            <a:off x="640080" y="15544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86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Streamlit 화면 캡처 삽입 ]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840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86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웨이퍼맵 업로드 → 예측 패턴·확률·추정 공정원인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16916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69164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08660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웨이퍼맵 입력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086600" y="20574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또는 샘플 패턴 생성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26974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2697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86600" y="26974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예측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86600" y="30632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 추론 → 결함 패턴 + 확률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0" y="3703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7033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086600" y="37033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공정원인 해석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86600" y="40690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패턴별 추정 원인·점검 포인트 자동 매핑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0" y="47091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0" y="4709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086600" y="47091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 정보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086600" y="5074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8종 패턴 예시·형태·원인 제공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06  EXPLAINABILITY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Grad-CAM — 결함 판단 근거 시각화 (XAI)</a:t>
            </a:r>
            <a:endParaRPr lang="en-US" sz="2900"/>
          </a:p>
        </p:txBody>
      </p:sp>
      <p:pic>
        <p:nvPicPr>
          <p:cNvPr id="14" name="Image 0" descr="gradcam_clean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325880" y="1554480"/>
            <a:ext cx="9555480" cy="4754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40080" y="6382512"/>
            <a:ext cx="1088136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빨강(JET)이 진할수록 예측 기여가 큰 영역 — Scratch의 긁힌 선·Random의 분산 영역에 정확히 집중  ·  단순 분류를 넘어 '판단 근거'를 설명 (설명가능 AI)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 b="1" kern="0" spc="3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07  DEPLOY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결과 시각화 및 배포 — Streamlit</a:t>
            </a:r>
            <a:endParaRPr lang="en-US" sz="2900"/>
          </a:p>
        </p:txBody>
      </p:sp>
      <p:sp>
        <p:nvSpPr>
          <p:cNvPr id="14" name="Shape 12"/>
          <p:cNvSpPr/>
          <p:nvPr/>
        </p:nvSpPr>
        <p:spPr>
          <a:xfrm>
            <a:off x="640080" y="15544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blurRad="88900" dist="25400" dir="5400000" algn="bl" rotWithShape="0">
              <a:srgbClr val="000000">
                <a:alpha val="25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3383280"/>
            <a:ext cx="548640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[ Streamlit 화면 캡처 삽입 ]</a:t>
            </a:r>
            <a:endParaRPr lang="en-US" sz="1400"/>
          </a:p>
        </p:txBody>
      </p:sp>
      <p:sp>
        <p:nvSpPr>
          <p:cNvPr id="16" name="Text 14"/>
          <p:cNvSpPr/>
          <p:nvPr/>
        </p:nvSpPr>
        <p:spPr>
          <a:xfrm>
            <a:off x="640080" y="3840480"/>
            <a:ext cx="54864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웨이퍼맵 업로드 → 예측 패턴·확률·추정 공정원인</a:t>
            </a:r>
            <a:endParaRPr lang="en-US" sz="1100"/>
          </a:p>
        </p:txBody>
      </p:sp>
      <p:sp>
        <p:nvSpPr>
          <p:cNvPr id="17" name="Shape 15"/>
          <p:cNvSpPr/>
          <p:nvPr/>
        </p:nvSpPr>
        <p:spPr>
          <a:xfrm>
            <a:off x="6400800" y="16916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00800" y="1691640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1</a:t>
            </a:r>
            <a:endParaRPr lang="en-US" sz="1700"/>
          </a:p>
        </p:txBody>
      </p:sp>
      <p:sp>
        <p:nvSpPr>
          <p:cNvPr id="19" name="Text 17"/>
          <p:cNvSpPr/>
          <p:nvPr/>
        </p:nvSpPr>
        <p:spPr>
          <a:xfrm>
            <a:off x="7086600" y="1691640"/>
            <a:ext cx="43891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웨이퍼맵 입력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7086600" y="2057400"/>
            <a:ext cx="438912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en-US" sz="115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업로드 또는 샘플 패턴 생성</a:t>
            </a:r>
            <a:endParaRPr lang="en-US" sz="1150"/>
          </a:p>
        </p:txBody>
      </p:sp>
      <p:sp>
        <p:nvSpPr>
          <p:cNvPr id="21" name="Shape 19"/>
          <p:cNvSpPr/>
          <p:nvPr/>
        </p:nvSpPr>
        <p:spPr>
          <a:xfrm>
            <a:off x="6400800" y="26974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0" y="2697480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lang="en-US" sz="1700"/>
          </a:p>
        </p:txBody>
      </p:sp>
      <p:sp>
        <p:nvSpPr>
          <p:cNvPr id="23" name="Text 21"/>
          <p:cNvSpPr/>
          <p:nvPr/>
        </p:nvSpPr>
        <p:spPr>
          <a:xfrm>
            <a:off x="7086600" y="2697480"/>
            <a:ext cx="43891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패턴 예측</a:t>
            </a:r>
            <a:endParaRPr lang="en-US" sz="1500"/>
          </a:p>
        </p:txBody>
      </p:sp>
      <p:sp>
        <p:nvSpPr>
          <p:cNvPr id="24" name="Text 22"/>
          <p:cNvSpPr/>
          <p:nvPr/>
        </p:nvSpPr>
        <p:spPr>
          <a:xfrm>
            <a:off x="7086600" y="3063240"/>
            <a:ext cx="438912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en-US" sz="115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CNN 추론 → 결함 패턴 + 확률</a:t>
            </a:r>
            <a:endParaRPr lang="en-US" sz="1150"/>
          </a:p>
        </p:txBody>
      </p:sp>
      <p:sp>
        <p:nvSpPr>
          <p:cNvPr id="25" name="Shape 23"/>
          <p:cNvSpPr/>
          <p:nvPr/>
        </p:nvSpPr>
        <p:spPr>
          <a:xfrm>
            <a:off x="6400800" y="3703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00800" y="3703320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lang="en-US" sz="1700"/>
          </a:p>
        </p:txBody>
      </p:sp>
      <p:sp>
        <p:nvSpPr>
          <p:cNvPr id="27" name="Text 25"/>
          <p:cNvSpPr/>
          <p:nvPr/>
        </p:nvSpPr>
        <p:spPr>
          <a:xfrm>
            <a:off x="7086600" y="3703320"/>
            <a:ext cx="43891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공정원인 해석</a:t>
            </a:r>
            <a:endParaRPr lang="en-US" sz="1500"/>
          </a:p>
        </p:txBody>
      </p:sp>
      <p:sp>
        <p:nvSpPr>
          <p:cNvPr id="28" name="Text 26"/>
          <p:cNvSpPr/>
          <p:nvPr/>
        </p:nvSpPr>
        <p:spPr>
          <a:xfrm>
            <a:off x="7086600" y="4069080"/>
            <a:ext cx="438912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en-US" sz="115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패턴별 추정 원인·점검 포인트 자동 매핑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6400800" y="47091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b1a2e"/>
          </a:solidFill>
          <a:ln w="16510">
            <a:solidFill>
              <a:srgbClr val="27d3ee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400800" y="4709160"/>
            <a:ext cx="566928" cy="56692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27d3ee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lang="en-US" sz="1700"/>
          </a:p>
        </p:txBody>
      </p:sp>
      <p:sp>
        <p:nvSpPr>
          <p:cNvPr id="31" name="Text 29"/>
          <p:cNvSpPr/>
          <p:nvPr/>
        </p:nvSpPr>
        <p:spPr>
          <a:xfrm>
            <a:off x="7086600" y="4709160"/>
            <a:ext cx="43891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클래스 정보</a:t>
            </a:r>
            <a:endParaRPr lang="en-US" sz="1500"/>
          </a:p>
        </p:txBody>
      </p:sp>
      <p:sp>
        <p:nvSpPr>
          <p:cNvPr id="32" name="Text 30"/>
          <p:cNvSpPr/>
          <p:nvPr/>
        </p:nvSpPr>
        <p:spPr>
          <a:xfrm>
            <a:off x="7086600" y="5074920"/>
            <a:ext cx="438912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en-US" sz="115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8종 패턴 예시·형태·원인 제공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502920"/>
            <a:ext cx="109728" cy="713232"/>
          </a:xfrm>
          <a:prstGeom prst="roundRect">
            <a:avLst>
              <a:gd name="adj" fmla="val 41667"/>
            </a:avLst>
          </a:prstGeom>
          <a:solidFill>
            <a:srgbClr val="27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572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6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IMPACT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73152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및 제조 현장 활용 방안</a:t>
            </a:r>
            <a:endParaRPr lang="en-US" sz="2900" dirty="0"/>
          </a:p>
        </p:txBody>
      </p:sp>
      <p:sp>
        <p:nvSpPr>
          <p:cNvPr id="14" name="Shape 12"/>
          <p:cNvSpPr/>
          <p:nvPr/>
        </p:nvSpPr>
        <p:spPr>
          <a:xfrm>
            <a:off x="640080" y="160020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18288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7D3EE">
              <a:alpha val="20000"/>
            </a:srgbClr>
          </a:solidFill>
          <a:ln w="12700">
            <a:solidFill>
              <a:srgbClr val="27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FE4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185623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Manufacturing 구현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24688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데이터(웨이퍼맵)에 AI/ML 적용한 양산 효율화 사례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160020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18288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7D3EE">
              <a:alpha val="20000"/>
            </a:srgbClr>
          </a:solidFill>
          <a:ln w="12700">
            <a:solidFill>
              <a:srgbClr val="27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FE4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86600" y="185623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 × OT 융합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24688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공정·장비 도메인 지식 + 딥러닝 결합, 패턴→공정원인 해석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370332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8680" y="3931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7D3EE">
              <a:alpha val="20000"/>
            </a:srgbClr>
          </a:solidFill>
          <a:ln w="12700">
            <a:solidFill>
              <a:srgbClr val="27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FE4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08760" y="395935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With AI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4400" y="45720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육안 검사 자동화로 반복 업무 제거·판단 지원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17920" y="370332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3253E"/>
          </a:solidFill>
          <a:ln w="12700">
            <a:solidFill>
              <a:srgbClr val="214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46520" y="3931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7D3EE">
              <a:alpha val="20000"/>
            </a:srgbClr>
          </a:solidFill>
          <a:ln w="12700">
            <a:solidFill>
              <a:srgbClr val="27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4652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FE4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86600" y="395935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Digital Twin 확장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92240" y="45720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FDC·MES 연계 실시간 이상탐지, 가상 검증으로 발전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743200"/>
            <a:ext cx="6400800" cy="6400800"/>
          </a:xfrm>
          <a:prstGeom prst="ellipse">
            <a:avLst/>
          </a:prstGeom>
          <a:solidFill>
            <a:srgbClr val="0e2138">
              <a:alpha val="45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229600" y="3657600"/>
            <a:ext cx="7315200" cy="7315200"/>
          </a:xfrm>
          <a:prstGeom prst="ellipse">
            <a:avLst/>
          </a:prstGeom>
          <a:solidFill>
            <a:srgbClr val="0e2138">
              <a:alpha val="40000"/>
            </a:srgbClr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0058400" y="0"/>
            <a:ext cx="0" cy="64008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0" y="640080"/>
            <a:ext cx="128016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301984" y="566928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0" y="228600"/>
            <a:ext cx="0" cy="914400"/>
          </a:xfrm>
          <a:prstGeom prst="line">
            <a:avLst/>
          </a:prstGeom>
          <a:noFill/>
          <a:ln w="12700">
            <a:solidFill>
              <a:srgbClr val="27d3ee">
                <a:alpha val="20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005840" cy="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05840" y="6400800"/>
            <a:ext cx="0" cy="457200"/>
          </a:xfrm>
          <a:prstGeom prst="line">
            <a:avLst/>
          </a:prstGeom>
          <a:noFill/>
          <a:ln w="12700">
            <a:solidFill>
              <a:srgbClr val="27d3ee">
                <a:alpha val="28000"/>
              </a:srgbClr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32688" y="5989320"/>
            <a:ext cx="146304" cy="146304"/>
          </a:xfrm>
          <a:prstGeom prst="ellipse">
            <a:avLst/>
          </a:prstGeom>
          <a:solidFill>
            <a:srgbClr val="27d3ee">
              <a:alpha val="60000"/>
            </a:srgbClr>
          </a:solidFill>
          <a:ln w="6350">
            <a:solidFill>
              <a:srgbClr val="27d3ee">
                <a:alpha val="70000"/>
              </a:srgbClr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pic>
        <p:nvPicPr>
          <p:cNvPr id="11" name="Image 0" descr="assets/her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412480" y="3566160"/>
            <a:ext cx="3291840" cy="32918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77240" y="2377440"/>
            <a:ext cx="731520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 kern="0" spc="400">
                <a:solidFill>
                  <a:srgbClr val="3fb6e0"/>
                </a:solidFill>
                <a:latin typeface="맑은 고딕"/>
                <a:ea typeface="맑은 고딕"/>
                <a:cs typeface="맑은 고딕"/>
              </a:rPr>
              <a:t>THANK YOU</a:t>
            </a:r>
            <a:endParaRPr lang="en-US" sz="1600"/>
          </a:p>
        </p:txBody>
      </p:sp>
      <p:sp>
        <p:nvSpPr>
          <p:cNvPr id="13" name="Text 10"/>
          <p:cNvSpPr/>
          <p:nvPr/>
        </p:nvSpPr>
        <p:spPr>
          <a:xfrm>
            <a:off x="749808" y="2834640"/>
            <a:ext cx="8229600" cy="9144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4600" b="1">
                <a:solidFill>
                  <a:srgbClr val="f5faff"/>
                </a:solidFill>
                <a:latin typeface="맑은 고딕"/>
                <a:ea typeface="맑은 고딕"/>
                <a:cs typeface="맑은 고딕"/>
              </a:rPr>
              <a:t>감사합니다</a:t>
            </a:r>
            <a:endParaRPr lang="en-US" sz="4600"/>
          </a:p>
        </p:txBody>
      </p:sp>
      <p:sp>
        <p:nvSpPr>
          <p:cNvPr id="14" name="Shape 11"/>
          <p:cNvSpPr/>
          <p:nvPr/>
        </p:nvSpPr>
        <p:spPr>
          <a:xfrm>
            <a:off x="822960" y="3977640"/>
            <a:ext cx="1828800" cy="0"/>
          </a:xfrm>
          <a:prstGeom prst="line">
            <a:avLst/>
          </a:prstGeom>
          <a:noFill/>
          <a:ln w="31750">
            <a:solidFill>
              <a:srgbClr val="27d3ee"/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77240" y="4160520"/>
            <a:ext cx="731520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9fb6ce"/>
                </a:solidFill>
                <a:latin typeface="맑은 고딕"/>
                <a:ea typeface="맑은 고딕"/>
                <a:cs typeface="맑은 고딕"/>
              </a:rPr>
              <a:t>AI 기반 반도체 웨이퍼 결함 패턴 분류 · Smart Manufacturing</a:t>
            </a:r>
            <a:endParaRPr lang="en-US" sz="1400"/>
          </a:p>
        </p:txBody>
      </p:sp>
      <p:sp>
        <p:nvSpPr>
          <p:cNvPr id="16" name="Text 15"/>
          <p:cNvSpPr/>
          <p:nvPr/>
        </p:nvSpPr>
        <p:spPr>
          <a:xfrm>
            <a:off x="777240" y="5440680"/>
            <a:ext cx="640080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lnSpc>
                <a:spcPct val="140000"/>
              </a:lnSpc>
              <a:buNone/>
              <a:defRPr/>
            </a:pPr>
            <a:r>
              <a:rPr lang="en-US" sz="1350" b="1">
                <a:solidFill>
                  <a:srgbClr val="6fe4f5"/>
                </a:solidFill>
                <a:latin typeface="맑은 고딕"/>
                <a:ea typeface="맑은 고딕"/>
                <a:cs typeface="맑은 고딕"/>
              </a:rPr>
              <a:t>CNN · Conv2D · MaxPooling · Dropout · Dense · Focal Loss</a:t>
            </a:r>
            <a:endParaRPr lang="en-US" sz="1350" b="1">
              <a:solidFill>
                <a:srgbClr val="6fe4f5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40000"/>
              </a:lnSpc>
              <a:buNone/>
              <a:defRPr/>
            </a:pPr>
            <a:r>
              <a:rPr lang="en-US" sz="1350">
                <a:solidFill>
                  <a:srgbClr val="6e869e"/>
                </a:solidFill>
                <a:latin typeface="맑은 고딕"/>
                <a:ea typeface="맑은 고딕"/>
                <a:cs typeface="맑은 고딕"/>
              </a:rPr>
              <a:t>2026 · Smart Manufacturing · MLflow</a:t>
            </a:r>
            <a:endParaRPr lang="en-US" sz="1350"/>
          </a:p>
        </p:txBody>
      </p:sp>
      <p:pic>
        <p:nvPicPr>
          <p:cNvPr id="17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091324" y="1082039"/>
            <a:ext cx="5105400" cy="304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2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2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1c3d62"/>
      </a:dk2>
      <a:lt2>
        <a:srgbClr val="e3dcc1"/>
      </a:lt2>
      <a:accent1>
        <a:srgbClr val="315f97"/>
      </a:accent1>
      <a:accent2>
        <a:srgbClr val="c75252"/>
      </a:accent2>
      <a:accent3>
        <a:srgbClr val="e9ae2b"/>
      </a:accent3>
      <a:accent4>
        <a:srgbClr val="699b37"/>
      </a:accent4>
      <a:accent5>
        <a:srgbClr val="358791"/>
      </a:accent5>
      <a:accent6>
        <a:srgbClr val="ca56a7"/>
      </a:accent6>
      <a:hlink>
        <a:srgbClr val="0000ff"/>
      </a:hlink>
      <a:folHlink>
        <a:srgbClr val="800080"/>
      </a:folHlink>
    </a:clrScheme>
    <a:fontScheme name="한컴오피스">
      <a:majorFont>
        <a:latin typeface="함초롬돋움"/>
        <a:ea typeface="함초롬돋움"/>
        <a:cs typeface="Times New Roman"/>
      </a:majorFont>
      <a:minorFont>
        <a:latin typeface="함초롬돋움"/>
        <a:ea typeface="함초롬돋움"/>
        <a:cs typeface="Times New Roman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270</ep:Words>
  <ep:PresentationFormat>On-screen Show (16:9)</ep:PresentationFormat>
  <ep:Paragraphs>69</ep:Paragraphs>
  <ep:Slides>18</ep:Slides>
  <ep:Notes>18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ep:HeadingPairs>
  <ep:TitlesOfParts>
    <vt:vector size="19" baseType="lpstr">
      <vt:lpstr>Office Theme</vt:lpstr>
      <vt:lpstr>슬라이드 1</vt:lpstr>
      <vt:lpstr>Slide 10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2026-06-30T02:54:09.000</dcterms:created>
  <dc:creator>EJ</dc:creator>
  <cp:lastModifiedBy>human-16</cp:lastModifiedBy>
  <dcterms:modified xsi:type="dcterms:W3CDTF">2026-06-30T08:30:23.982</dcterms:modified>
  <cp:revision>34</cp:revision>
  <dc:subject>PptxGenJS Presentation</dc:subject>
  <dc:title>웨이퍼 결함 분류 — 딥러닝 산출물</dc:title>
  <cp:version>1000.0000.01</cp:version>
</cp:coreProperties>
</file>